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
  </p:handoutMasterIdLst>
  <p:sldIdLst>
    <p:sldId id="281" r:id="rId3"/>
    <p:sldId id="283" r:id="rId5"/>
  </p:sldIdLst>
  <p:sldSz cx="15544800" cy="10058400"/>
  <p:notesSz cx="9601200" cy="15087600"/>
  <p:defaultTextStyle>
    <a:defPPr>
      <a:defRPr lang="en-US"/>
    </a:defPPr>
    <a:lvl1pPr algn="l" rtl="0" fontAlgn="base">
      <a:spcBef>
        <a:spcPct val="0"/>
      </a:spcBef>
      <a:spcAft>
        <a:spcPct val="0"/>
      </a:spcAft>
      <a:defRPr sz="2900" kern="1200">
        <a:solidFill>
          <a:schemeClr val="tx1"/>
        </a:solidFill>
        <a:latin typeface="Arial" panose="020B0604020202020204" pitchFamily="34" charset="0"/>
        <a:ea typeface="MS PGothic" charset="0"/>
        <a:cs typeface="MS PGothic" charset="0"/>
      </a:defRPr>
    </a:lvl1pPr>
    <a:lvl2pPr marL="457200" algn="l" rtl="0" fontAlgn="base">
      <a:spcBef>
        <a:spcPct val="0"/>
      </a:spcBef>
      <a:spcAft>
        <a:spcPct val="0"/>
      </a:spcAft>
      <a:defRPr sz="2900" kern="1200">
        <a:solidFill>
          <a:schemeClr val="tx1"/>
        </a:solidFill>
        <a:latin typeface="Arial" panose="020B0604020202020204" pitchFamily="34" charset="0"/>
        <a:ea typeface="MS PGothic" charset="0"/>
        <a:cs typeface="MS PGothic" charset="0"/>
      </a:defRPr>
    </a:lvl2pPr>
    <a:lvl3pPr marL="914400" algn="l" rtl="0" fontAlgn="base">
      <a:spcBef>
        <a:spcPct val="0"/>
      </a:spcBef>
      <a:spcAft>
        <a:spcPct val="0"/>
      </a:spcAft>
      <a:defRPr sz="2900" kern="1200">
        <a:solidFill>
          <a:schemeClr val="tx1"/>
        </a:solidFill>
        <a:latin typeface="Arial" panose="020B0604020202020204" pitchFamily="34" charset="0"/>
        <a:ea typeface="MS PGothic" charset="0"/>
        <a:cs typeface="MS PGothic" charset="0"/>
      </a:defRPr>
    </a:lvl3pPr>
    <a:lvl4pPr marL="1371600" algn="l" rtl="0" fontAlgn="base">
      <a:spcBef>
        <a:spcPct val="0"/>
      </a:spcBef>
      <a:spcAft>
        <a:spcPct val="0"/>
      </a:spcAft>
      <a:defRPr sz="2900" kern="1200">
        <a:solidFill>
          <a:schemeClr val="tx1"/>
        </a:solidFill>
        <a:latin typeface="Arial" panose="020B0604020202020204" pitchFamily="34" charset="0"/>
        <a:ea typeface="MS PGothic" charset="0"/>
        <a:cs typeface="MS PGothic" charset="0"/>
      </a:defRPr>
    </a:lvl4pPr>
    <a:lvl5pPr marL="1828800" algn="l" rtl="0" fontAlgn="base">
      <a:spcBef>
        <a:spcPct val="0"/>
      </a:spcBef>
      <a:spcAft>
        <a:spcPct val="0"/>
      </a:spcAft>
      <a:defRPr sz="2900" kern="1200">
        <a:solidFill>
          <a:schemeClr val="tx1"/>
        </a:solidFill>
        <a:latin typeface="Arial" panose="020B0604020202020204" pitchFamily="34" charset="0"/>
        <a:ea typeface="MS PGothic" charset="0"/>
        <a:cs typeface="MS PGothic" charset="0"/>
      </a:defRPr>
    </a:lvl5pPr>
    <a:lvl6pPr marL="2286000" algn="l" defTabSz="457200" rtl="0" eaLnBrk="1" latinLnBrk="0" hangingPunct="1">
      <a:defRPr sz="2900" kern="1200">
        <a:solidFill>
          <a:schemeClr val="tx1"/>
        </a:solidFill>
        <a:latin typeface="Arial" panose="020B0604020202020204" pitchFamily="34" charset="0"/>
        <a:ea typeface="MS PGothic" charset="0"/>
        <a:cs typeface="MS PGothic" charset="0"/>
      </a:defRPr>
    </a:lvl6pPr>
    <a:lvl7pPr marL="2743200" algn="l" defTabSz="457200" rtl="0" eaLnBrk="1" latinLnBrk="0" hangingPunct="1">
      <a:defRPr sz="2900" kern="1200">
        <a:solidFill>
          <a:schemeClr val="tx1"/>
        </a:solidFill>
        <a:latin typeface="Arial" panose="020B0604020202020204" pitchFamily="34" charset="0"/>
        <a:ea typeface="MS PGothic" charset="0"/>
        <a:cs typeface="MS PGothic" charset="0"/>
      </a:defRPr>
    </a:lvl7pPr>
    <a:lvl8pPr marL="3200400" algn="l" defTabSz="457200" rtl="0" eaLnBrk="1" latinLnBrk="0" hangingPunct="1">
      <a:defRPr sz="2900" kern="1200">
        <a:solidFill>
          <a:schemeClr val="tx1"/>
        </a:solidFill>
        <a:latin typeface="Arial" panose="020B0604020202020204" pitchFamily="34" charset="0"/>
        <a:ea typeface="MS PGothic" charset="0"/>
        <a:cs typeface="MS PGothic" charset="0"/>
      </a:defRPr>
    </a:lvl8pPr>
    <a:lvl9pPr marL="3657600" algn="l" defTabSz="457200" rtl="0" eaLnBrk="1" latinLnBrk="0" hangingPunct="1">
      <a:defRPr sz="2900" kern="1200">
        <a:solidFill>
          <a:schemeClr val="tx1"/>
        </a:solidFill>
        <a:latin typeface="Arial" panose="020B0604020202020204" pitchFamily="34" charset="0"/>
        <a:ea typeface="MS PGothic" charset="0"/>
        <a:cs typeface="MS PGothic"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800080"/>
    <a:srgbClr val="FF6600"/>
    <a:srgbClr val="394C88"/>
    <a:srgbClr val="FF6666"/>
    <a:srgbClr val="FBBF85"/>
    <a:srgbClr val="F75200"/>
    <a:srgbClr val="F87F2D"/>
    <a:srgbClr val="77A0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682"/>
  </p:normalViewPr>
  <p:slideViewPr>
    <p:cSldViewPr snapToObjects="1" showGuides="1">
      <p:cViewPr varScale="1">
        <p:scale>
          <a:sx n="72" d="100"/>
          <a:sy n="72" d="100"/>
        </p:scale>
        <p:origin x="1840" y="224"/>
      </p:cViewPr>
      <p:guideLst>
        <p:guide orient="horz" pos="3144"/>
        <p:guide pos="1872"/>
        <p:guide orient="horz" pos="1392"/>
        <p:guide orient="horz" pos="5136"/>
        <p:guide pos="4608"/>
        <p:guide pos="7392"/>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48" d="100"/>
          <a:sy n="48" d="100"/>
        </p:scale>
        <p:origin x="-3560" y="-144"/>
      </p:cViewPr>
      <p:guideLst>
        <p:guide orient="horz" pos="4716"/>
        <p:guide pos="3024"/>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838" cy="754063"/>
          </a:xfrm>
          <a:prstGeom prst="rect">
            <a:avLst/>
          </a:prstGeom>
        </p:spPr>
        <p:txBody>
          <a:bodyPr vert="horz" wrap="square" lIns="133448" tIns="66724" rIns="133448" bIns="66724" numCol="1" anchor="t" anchorCtr="0" compatLnSpc="1"/>
          <a:lstStyle>
            <a:lvl1pPr>
              <a:defRPr sz="1800">
                <a:latin typeface="Arial" panose="020B0604020202020204" pitchFamily="34" charset="0"/>
                <a:ea typeface="+mn-ea"/>
                <a:cs typeface="+mn-cs"/>
              </a:defRPr>
            </a:lvl1pPr>
          </a:lstStyle>
          <a:p>
            <a:pPr>
              <a:defRPr/>
            </a:pPr>
            <a:endParaRPr lang="en-US"/>
          </a:p>
        </p:txBody>
      </p:sp>
      <p:sp>
        <p:nvSpPr>
          <p:cNvPr id="3" name="Date Placeholder 2"/>
          <p:cNvSpPr>
            <a:spLocks noGrp="1"/>
          </p:cNvSpPr>
          <p:nvPr>
            <p:ph type="dt" sz="quarter" idx="1"/>
          </p:nvPr>
        </p:nvSpPr>
        <p:spPr>
          <a:xfrm>
            <a:off x="5438775" y="0"/>
            <a:ext cx="4160838" cy="754063"/>
          </a:xfrm>
          <a:prstGeom prst="rect">
            <a:avLst/>
          </a:prstGeom>
        </p:spPr>
        <p:txBody>
          <a:bodyPr vert="horz" wrap="square" lIns="133448" tIns="66724" rIns="133448" bIns="66724" numCol="1" anchor="t" anchorCtr="0" compatLnSpc="1"/>
          <a:lstStyle>
            <a:lvl1pPr algn="r">
              <a:defRPr sz="1800"/>
            </a:lvl1pPr>
          </a:lstStyle>
          <a:p>
            <a:pPr>
              <a:defRPr/>
            </a:pPr>
            <a:fld id="{BEF62087-7C23-DC41-B342-1D91C88102BC}" type="datetime1">
              <a:rPr lang="en-US"/>
            </a:fld>
            <a:endParaRPr lang="en-US"/>
          </a:p>
        </p:txBody>
      </p:sp>
      <p:sp>
        <p:nvSpPr>
          <p:cNvPr id="4" name="Footer Placeholder 3"/>
          <p:cNvSpPr>
            <a:spLocks noGrp="1"/>
          </p:cNvSpPr>
          <p:nvPr>
            <p:ph type="ftr" sz="quarter" idx="2"/>
          </p:nvPr>
        </p:nvSpPr>
        <p:spPr>
          <a:xfrm>
            <a:off x="0" y="14331950"/>
            <a:ext cx="4160838" cy="752475"/>
          </a:xfrm>
          <a:prstGeom prst="rect">
            <a:avLst/>
          </a:prstGeom>
        </p:spPr>
        <p:txBody>
          <a:bodyPr vert="horz" wrap="square" lIns="133448" tIns="66724" rIns="133448" bIns="66724" numCol="1" anchor="b" anchorCtr="0" compatLnSpc="1"/>
          <a:lstStyle>
            <a:lvl1pPr>
              <a:defRPr sz="1800">
                <a:latin typeface="Arial" panose="020B0604020202020204" pitchFamily="34"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5438775" y="14331950"/>
            <a:ext cx="4160838" cy="752475"/>
          </a:xfrm>
          <a:prstGeom prst="rect">
            <a:avLst/>
          </a:prstGeom>
        </p:spPr>
        <p:txBody>
          <a:bodyPr vert="horz" wrap="square" lIns="133448" tIns="66724" rIns="133448" bIns="66724" numCol="1" anchor="b" anchorCtr="0" compatLnSpc="1"/>
          <a:lstStyle>
            <a:lvl1pPr algn="r">
              <a:defRPr sz="1800"/>
            </a:lvl1pPr>
          </a:lstStyle>
          <a:p>
            <a:pPr>
              <a:defRPr/>
            </a:pPr>
            <a:fld id="{96A0A922-1324-F24F-B26C-E6A73BEAD849}"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160838" cy="754063"/>
          </a:xfrm>
          <a:prstGeom prst="rect">
            <a:avLst/>
          </a:prstGeom>
          <a:noFill/>
          <a:ln w="9525">
            <a:noFill/>
            <a:miter lim="800000"/>
          </a:ln>
          <a:effectLst/>
        </p:spPr>
        <p:txBody>
          <a:bodyPr vert="horz" wrap="square" lIns="141067" tIns="70534" rIns="141067" bIns="70534" numCol="1" anchor="t" anchorCtr="0" compatLnSpc="1"/>
          <a:lstStyle>
            <a:lvl1pPr defTabSz="1409700">
              <a:defRPr sz="1900">
                <a:latin typeface="Arial" panose="020B0604020202020204" pitchFamily="34" charset="0"/>
                <a:ea typeface="+mn-ea"/>
                <a:cs typeface="+mn-cs"/>
              </a:defRPr>
            </a:lvl1pPr>
          </a:lstStyle>
          <a:p>
            <a:pPr>
              <a:defRPr/>
            </a:pPr>
            <a:endParaRPr lang="en-US"/>
          </a:p>
        </p:txBody>
      </p:sp>
      <p:sp>
        <p:nvSpPr>
          <p:cNvPr id="3075" name="Rectangle 3"/>
          <p:cNvSpPr>
            <a:spLocks noGrp="1" noChangeArrowheads="1"/>
          </p:cNvSpPr>
          <p:nvPr>
            <p:ph type="dt" idx="1"/>
          </p:nvPr>
        </p:nvSpPr>
        <p:spPr bwMode="auto">
          <a:xfrm>
            <a:off x="5438775" y="0"/>
            <a:ext cx="4160838" cy="754063"/>
          </a:xfrm>
          <a:prstGeom prst="rect">
            <a:avLst/>
          </a:prstGeom>
          <a:noFill/>
          <a:ln w="9525">
            <a:noFill/>
            <a:miter lim="800000"/>
          </a:ln>
          <a:effectLst/>
        </p:spPr>
        <p:txBody>
          <a:bodyPr vert="horz" wrap="square" lIns="141067" tIns="70534" rIns="141067" bIns="70534" numCol="1" anchor="t" anchorCtr="0" compatLnSpc="1"/>
          <a:lstStyle>
            <a:lvl1pPr algn="r" defTabSz="1409700">
              <a:defRPr sz="1900">
                <a:latin typeface="Arial" panose="020B0604020202020204" pitchFamily="34" charset="0"/>
                <a:ea typeface="+mn-ea"/>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428625" y="1131888"/>
            <a:ext cx="8742363" cy="5657850"/>
          </a:xfrm>
          <a:prstGeom prst="rect">
            <a:avLst/>
          </a:prstGeom>
          <a:noFill/>
          <a:ln w="9525">
            <a:solidFill>
              <a:srgbClr val="000000"/>
            </a:solidFill>
            <a:miter lim="800000"/>
          </a:ln>
        </p:spPr>
      </p:sp>
      <p:sp>
        <p:nvSpPr>
          <p:cNvPr id="3077" name="Rectangle 5"/>
          <p:cNvSpPr>
            <a:spLocks noGrp="1" noChangeArrowheads="1"/>
          </p:cNvSpPr>
          <p:nvPr>
            <p:ph type="body" sz="quarter" idx="3"/>
          </p:nvPr>
        </p:nvSpPr>
        <p:spPr bwMode="auto">
          <a:xfrm>
            <a:off x="960438" y="7167563"/>
            <a:ext cx="7680325" cy="6788150"/>
          </a:xfrm>
          <a:prstGeom prst="rect">
            <a:avLst/>
          </a:prstGeom>
          <a:noFill/>
          <a:ln w="9525">
            <a:noFill/>
            <a:miter lim="800000"/>
          </a:ln>
          <a:effectLst/>
        </p:spPr>
        <p:txBody>
          <a:bodyPr vert="horz" wrap="square" lIns="141067" tIns="70534" rIns="141067" bIns="70534"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3078" name="Rectangle 6"/>
          <p:cNvSpPr>
            <a:spLocks noGrp="1" noChangeArrowheads="1"/>
          </p:cNvSpPr>
          <p:nvPr>
            <p:ph type="ftr" sz="quarter" idx="4"/>
          </p:nvPr>
        </p:nvSpPr>
        <p:spPr bwMode="auto">
          <a:xfrm>
            <a:off x="0" y="14331950"/>
            <a:ext cx="4160838" cy="752475"/>
          </a:xfrm>
          <a:prstGeom prst="rect">
            <a:avLst/>
          </a:prstGeom>
          <a:noFill/>
          <a:ln w="9525">
            <a:noFill/>
            <a:miter lim="800000"/>
          </a:ln>
          <a:effectLst/>
        </p:spPr>
        <p:txBody>
          <a:bodyPr vert="horz" wrap="square" lIns="141067" tIns="70534" rIns="141067" bIns="70534" numCol="1" anchor="b" anchorCtr="0" compatLnSpc="1"/>
          <a:lstStyle>
            <a:lvl1pPr defTabSz="1409700">
              <a:defRPr sz="1900">
                <a:latin typeface="Arial" panose="020B0604020202020204" pitchFamily="34" charset="0"/>
                <a:ea typeface="+mn-ea"/>
                <a:cs typeface="+mn-cs"/>
              </a:defRPr>
            </a:lvl1pPr>
          </a:lstStyle>
          <a:p>
            <a:pPr>
              <a:defRPr/>
            </a:pPr>
            <a:endParaRPr lang="en-US"/>
          </a:p>
        </p:txBody>
      </p:sp>
      <p:sp>
        <p:nvSpPr>
          <p:cNvPr id="3079" name="Rectangle 7"/>
          <p:cNvSpPr>
            <a:spLocks noGrp="1" noChangeArrowheads="1"/>
          </p:cNvSpPr>
          <p:nvPr>
            <p:ph type="sldNum" sz="quarter" idx="5"/>
          </p:nvPr>
        </p:nvSpPr>
        <p:spPr bwMode="auto">
          <a:xfrm>
            <a:off x="5438775" y="14331950"/>
            <a:ext cx="4160838" cy="752475"/>
          </a:xfrm>
          <a:prstGeom prst="rect">
            <a:avLst/>
          </a:prstGeom>
          <a:noFill/>
          <a:ln w="9525">
            <a:noFill/>
            <a:miter lim="800000"/>
          </a:ln>
          <a:effectLst/>
        </p:spPr>
        <p:txBody>
          <a:bodyPr vert="horz" wrap="square" lIns="141067" tIns="70534" rIns="141067" bIns="70534" numCol="1" anchor="b" anchorCtr="0" compatLnSpc="1"/>
          <a:lstStyle>
            <a:lvl1pPr algn="r" defTabSz="1409700">
              <a:defRPr sz="1900"/>
            </a:lvl1pPr>
          </a:lstStyle>
          <a:p>
            <a:pPr>
              <a:defRPr/>
            </a:pPr>
            <a:fld id="{B0EA37B3-2DB0-3A45-8EC9-10114FA53A48}"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charset="-128"/>
        <a:cs typeface="MS PGothic" charset="-128"/>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S PGothic" charset="-128"/>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S PGothic" charset="-128"/>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S PGothic" charset="-128"/>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S PGothic"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0EA37B3-2DB0-3A45-8EC9-10114FA53A48}"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0EA37B3-2DB0-3A45-8EC9-10114FA53A48}"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5225" y="3124200"/>
            <a:ext cx="13214350" cy="2155825"/>
          </a:xfrm>
        </p:spPr>
        <p:txBody>
          <a:bodyPr/>
          <a:lstStyle/>
          <a:p>
            <a:r>
              <a:rPr lang="en-US"/>
              <a:t>Click to edit Master title style</a:t>
            </a:r>
            <a:endParaRPr lang="en-US"/>
          </a:p>
        </p:txBody>
      </p:sp>
      <p:sp>
        <p:nvSpPr>
          <p:cNvPr id="3" name="Subtitle 2"/>
          <p:cNvSpPr>
            <a:spLocks noGrp="1"/>
          </p:cNvSpPr>
          <p:nvPr>
            <p:ph type="subTitle" idx="1"/>
          </p:nvPr>
        </p:nvSpPr>
        <p:spPr>
          <a:xfrm>
            <a:off x="2332038" y="5699125"/>
            <a:ext cx="10880725" cy="2571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0E082D7-7351-FD46-A144-A8103CEB05A0}"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055854F-772B-D445-85E5-89B716B84F02}"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8725" y="6462713"/>
            <a:ext cx="13212763" cy="1998662"/>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1228725" y="4262438"/>
            <a:ext cx="13212763" cy="22002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5C998A4F-23CD-0941-A19E-DD508BCDC3A2}"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777875" y="2346325"/>
            <a:ext cx="6918325" cy="6638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7848600" y="2346325"/>
            <a:ext cx="6918325" cy="6638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B60F012E-BC58-4343-BDE9-6ED1081CF59F}"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777875" y="2251075"/>
            <a:ext cx="6867525" cy="9382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777875" y="3189288"/>
            <a:ext cx="6867525" cy="57959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7896225" y="2251075"/>
            <a:ext cx="6870700" cy="9382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896225" y="3189288"/>
            <a:ext cx="6870700" cy="57959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999C23C0-C871-7A44-BD62-271751C1940C}"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458B8EAE-E78D-DB42-8AF7-5D8C625C8293}"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597EF2CA-84A2-B849-8ABE-09806FAADEAE}"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7875" y="400050"/>
            <a:ext cx="5113338" cy="1704975"/>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6076950" y="400050"/>
            <a:ext cx="8689975" cy="85852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777875" y="2105025"/>
            <a:ext cx="5113338" cy="68802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2C0AD89F-3829-FA41-B09A-DC3D925E3708}"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6413" y="7040563"/>
            <a:ext cx="9328150" cy="831850"/>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3046413" y="898525"/>
            <a:ext cx="9328150" cy="60356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3046413" y="7872413"/>
            <a:ext cx="9328150" cy="11795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910DB810-2D64-B44D-B79E-6FB6D5706AEA}"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EFE1D6EB-DBCC-114D-9AD4-9D6E23757A25}"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269663" y="403225"/>
            <a:ext cx="3497262" cy="85820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77875" y="403225"/>
            <a:ext cx="10339388" cy="85820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B832E2A-B297-C842-8179-6499AA6064B5}"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77875" y="403225"/>
            <a:ext cx="13989050" cy="1676400"/>
          </a:xfrm>
          <a:prstGeom prst="rect">
            <a:avLst/>
          </a:prstGeom>
          <a:noFill/>
          <a:ln>
            <a:noFill/>
          </a:ln>
        </p:spPr>
        <p:txBody>
          <a:bodyPr vert="horz" wrap="square" lIns="146304" tIns="73152" rIns="146304" bIns="73152" numCol="1" anchor="ctr" anchorCtr="0" compatLnSpc="1"/>
          <a:lstStyle/>
          <a:p>
            <a:pPr lvl="0"/>
            <a:r>
              <a:rPr lang="en-US"/>
              <a:t>Click to edit Master title style</a:t>
            </a:r>
            <a:endParaRPr lang="en-US"/>
          </a:p>
        </p:txBody>
      </p:sp>
      <p:sp>
        <p:nvSpPr>
          <p:cNvPr id="1027" name="Rectangle 3"/>
          <p:cNvSpPr>
            <a:spLocks noGrp="1" noChangeArrowheads="1"/>
          </p:cNvSpPr>
          <p:nvPr>
            <p:ph type="body" idx="1"/>
          </p:nvPr>
        </p:nvSpPr>
        <p:spPr bwMode="auto">
          <a:xfrm>
            <a:off x="777875" y="2346325"/>
            <a:ext cx="13989050" cy="6638925"/>
          </a:xfrm>
          <a:prstGeom prst="rect">
            <a:avLst/>
          </a:prstGeom>
          <a:noFill/>
          <a:ln>
            <a:noFill/>
          </a:ln>
        </p:spPr>
        <p:txBody>
          <a:bodyPr vert="horz" wrap="square" lIns="146304" tIns="73152" rIns="146304" bIns="73152"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28" name="Rectangle 4"/>
          <p:cNvSpPr>
            <a:spLocks noGrp="1" noChangeArrowheads="1"/>
          </p:cNvSpPr>
          <p:nvPr>
            <p:ph type="dt" sz="half" idx="2"/>
          </p:nvPr>
        </p:nvSpPr>
        <p:spPr bwMode="auto">
          <a:xfrm>
            <a:off x="777875" y="9159875"/>
            <a:ext cx="3625850" cy="698500"/>
          </a:xfrm>
          <a:prstGeom prst="rect">
            <a:avLst/>
          </a:prstGeom>
          <a:noFill/>
          <a:ln w="9525">
            <a:noFill/>
            <a:miter lim="800000"/>
          </a:ln>
          <a:effectLst/>
        </p:spPr>
        <p:txBody>
          <a:bodyPr vert="horz" wrap="square" lIns="146304" tIns="73152" rIns="146304" bIns="73152" numCol="1" anchor="t" anchorCtr="0" compatLnSpc="1"/>
          <a:lstStyle>
            <a:lvl1pPr>
              <a:defRPr sz="2200">
                <a:latin typeface="Arial" panose="020B0604020202020204" pitchFamily="34" charset="0"/>
                <a:ea typeface="+mn-ea"/>
                <a:cs typeface="+mn-cs"/>
              </a:defRPr>
            </a:lvl1pPr>
          </a:lstStyle>
          <a:p>
            <a:pPr>
              <a:defRPr/>
            </a:pPr>
            <a:endParaRPr lang="en-US"/>
          </a:p>
        </p:txBody>
      </p:sp>
      <p:sp>
        <p:nvSpPr>
          <p:cNvPr id="1029" name="Rectangle 5"/>
          <p:cNvSpPr>
            <a:spLocks noGrp="1" noChangeArrowheads="1"/>
          </p:cNvSpPr>
          <p:nvPr>
            <p:ph type="ftr" sz="quarter" idx="3"/>
          </p:nvPr>
        </p:nvSpPr>
        <p:spPr bwMode="auto">
          <a:xfrm>
            <a:off x="5311775" y="9159875"/>
            <a:ext cx="4921250" cy="698500"/>
          </a:xfrm>
          <a:prstGeom prst="rect">
            <a:avLst/>
          </a:prstGeom>
          <a:noFill/>
          <a:ln w="9525">
            <a:noFill/>
            <a:miter lim="800000"/>
          </a:ln>
          <a:effectLst/>
        </p:spPr>
        <p:txBody>
          <a:bodyPr vert="horz" wrap="square" lIns="146304" tIns="73152" rIns="146304" bIns="73152" numCol="1" anchor="t" anchorCtr="0" compatLnSpc="1"/>
          <a:lstStyle>
            <a:lvl1pPr algn="ctr">
              <a:defRPr sz="2200">
                <a:latin typeface="Arial" panose="020B0604020202020204" pitchFamily="34" charset="0"/>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11141075" y="9159875"/>
            <a:ext cx="3625850" cy="698500"/>
          </a:xfrm>
          <a:prstGeom prst="rect">
            <a:avLst/>
          </a:prstGeom>
          <a:noFill/>
          <a:ln w="9525">
            <a:noFill/>
            <a:miter lim="800000"/>
          </a:ln>
          <a:effectLst/>
        </p:spPr>
        <p:txBody>
          <a:bodyPr vert="horz" wrap="square" lIns="146304" tIns="73152" rIns="146304" bIns="73152" numCol="1" anchor="t" anchorCtr="0" compatLnSpc="1"/>
          <a:lstStyle>
            <a:lvl1pPr algn="r">
              <a:defRPr sz="2200"/>
            </a:lvl1pPr>
          </a:lstStyle>
          <a:p>
            <a:pPr>
              <a:defRPr/>
            </a:pPr>
            <a:fld id="{DF9ADF22-AEA1-9E47-B592-A0D955AAD411}"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463675" rtl="0" eaLnBrk="0" fontAlgn="base" hangingPunct="0">
        <a:spcBef>
          <a:spcPct val="0"/>
        </a:spcBef>
        <a:spcAft>
          <a:spcPct val="0"/>
        </a:spcAft>
        <a:defRPr sz="7000">
          <a:solidFill>
            <a:schemeClr val="tx2"/>
          </a:solidFill>
          <a:latin typeface="+mj-lt"/>
          <a:ea typeface="MS PGothic" charset="-128"/>
          <a:cs typeface="MS PGothic" charset="-128"/>
        </a:defRPr>
      </a:lvl1pPr>
      <a:lvl2pPr algn="ctr" defTabSz="1463675" rtl="0" eaLnBrk="0" fontAlgn="base" hangingPunct="0">
        <a:spcBef>
          <a:spcPct val="0"/>
        </a:spcBef>
        <a:spcAft>
          <a:spcPct val="0"/>
        </a:spcAft>
        <a:defRPr sz="7000">
          <a:solidFill>
            <a:schemeClr val="tx2"/>
          </a:solidFill>
          <a:latin typeface="Arial" panose="020B0604020202020204" pitchFamily="34" charset="0"/>
          <a:ea typeface="MS PGothic" charset="-128"/>
          <a:cs typeface="MS PGothic" charset="-128"/>
        </a:defRPr>
      </a:lvl2pPr>
      <a:lvl3pPr algn="ctr" defTabSz="1463675" rtl="0" eaLnBrk="0" fontAlgn="base" hangingPunct="0">
        <a:spcBef>
          <a:spcPct val="0"/>
        </a:spcBef>
        <a:spcAft>
          <a:spcPct val="0"/>
        </a:spcAft>
        <a:defRPr sz="7000">
          <a:solidFill>
            <a:schemeClr val="tx2"/>
          </a:solidFill>
          <a:latin typeface="Arial" panose="020B0604020202020204" pitchFamily="34" charset="0"/>
          <a:ea typeface="MS PGothic" charset="-128"/>
          <a:cs typeface="MS PGothic" charset="-128"/>
        </a:defRPr>
      </a:lvl3pPr>
      <a:lvl4pPr algn="ctr" defTabSz="1463675" rtl="0" eaLnBrk="0" fontAlgn="base" hangingPunct="0">
        <a:spcBef>
          <a:spcPct val="0"/>
        </a:spcBef>
        <a:spcAft>
          <a:spcPct val="0"/>
        </a:spcAft>
        <a:defRPr sz="7000">
          <a:solidFill>
            <a:schemeClr val="tx2"/>
          </a:solidFill>
          <a:latin typeface="Arial" panose="020B0604020202020204" pitchFamily="34" charset="0"/>
          <a:ea typeface="MS PGothic" charset="-128"/>
          <a:cs typeface="MS PGothic" charset="-128"/>
        </a:defRPr>
      </a:lvl4pPr>
      <a:lvl5pPr algn="ctr" defTabSz="1463675" rtl="0" eaLnBrk="0" fontAlgn="base" hangingPunct="0">
        <a:spcBef>
          <a:spcPct val="0"/>
        </a:spcBef>
        <a:spcAft>
          <a:spcPct val="0"/>
        </a:spcAft>
        <a:defRPr sz="7000">
          <a:solidFill>
            <a:schemeClr val="tx2"/>
          </a:solidFill>
          <a:latin typeface="Arial" panose="020B0604020202020204" pitchFamily="34" charset="0"/>
          <a:ea typeface="MS PGothic" charset="-128"/>
          <a:cs typeface="MS PGothic" charset="-128"/>
        </a:defRPr>
      </a:lvl5pPr>
      <a:lvl6pPr marL="457200" algn="ctr" defTabSz="1463675" rtl="0" fontAlgn="base">
        <a:spcBef>
          <a:spcPct val="0"/>
        </a:spcBef>
        <a:spcAft>
          <a:spcPct val="0"/>
        </a:spcAft>
        <a:defRPr sz="7000">
          <a:solidFill>
            <a:schemeClr val="tx2"/>
          </a:solidFill>
          <a:latin typeface="Arial" panose="020B0604020202020204" pitchFamily="34" charset="0"/>
        </a:defRPr>
      </a:lvl6pPr>
      <a:lvl7pPr marL="914400" algn="ctr" defTabSz="1463675" rtl="0" fontAlgn="base">
        <a:spcBef>
          <a:spcPct val="0"/>
        </a:spcBef>
        <a:spcAft>
          <a:spcPct val="0"/>
        </a:spcAft>
        <a:defRPr sz="7000">
          <a:solidFill>
            <a:schemeClr val="tx2"/>
          </a:solidFill>
          <a:latin typeface="Arial" panose="020B0604020202020204" pitchFamily="34" charset="0"/>
        </a:defRPr>
      </a:lvl7pPr>
      <a:lvl8pPr marL="1371600" algn="ctr" defTabSz="1463675" rtl="0" fontAlgn="base">
        <a:spcBef>
          <a:spcPct val="0"/>
        </a:spcBef>
        <a:spcAft>
          <a:spcPct val="0"/>
        </a:spcAft>
        <a:defRPr sz="7000">
          <a:solidFill>
            <a:schemeClr val="tx2"/>
          </a:solidFill>
          <a:latin typeface="Arial" panose="020B0604020202020204" pitchFamily="34" charset="0"/>
        </a:defRPr>
      </a:lvl8pPr>
      <a:lvl9pPr marL="1828800" algn="ctr" defTabSz="1463675" rtl="0" fontAlgn="base">
        <a:spcBef>
          <a:spcPct val="0"/>
        </a:spcBef>
        <a:spcAft>
          <a:spcPct val="0"/>
        </a:spcAft>
        <a:defRPr sz="7000">
          <a:solidFill>
            <a:schemeClr val="tx2"/>
          </a:solidFill>
          <a:latin typeface="Arial" panose="020B0604020202020204" pitchFamily="34" charset="0"/>
        </a:defRPr>
      </a:lvl9pPr>
    </p:titleStyle>
    <p:bodyStyle>
      <a:lvl1pPr marL="549275" indent="-549275" algn="l" defTabSz="1463675" rtl="0" eaLnBrk="0" fontAlgn="base" hangingPunct="0">
        <a:spcBef>
          <a:spcPct val="20000"/>
        </a:spcBef>
        <a:spcAft>
          <a:spcPct val="0"/>
        </a:spcAft>
        <a:buChar char="•"/>
        <a:defRPr sz="5100">
          <a:solidFill>
            <a:schemeClr val="tx1"/>
          </a:solidFill>
          <a:latin typeface="+mn-lt"/>
          <a:ea typeface="MS PGothic" charset="-128"/>
          <a:cs typeface="MS PGothic" charset="-128"/>
        </a:defRPr>
      </a:lvl1pPr>
      <a:lvl2pPr marL="1189355" indent="-457200" algn="l" defTabSz="1463675" rtl="0" eaLnBrk="0" fontAlgn="base" hangingPunct="0">
        <a:spcBef>
          <a:spcPct val="20000"/>
        </a:spcBef>
        <a:spcAft>
          <a:spcPct val="0"/>
        </a:spcAft>
        <a:buChar char="–"/>
        <a:defRPr sz="4500">
          <a:solidFill>
            <a:schemeClr val="tx1"/>
          </a:solidFill>
          <a:latin typeface="+mn-lt"/>
          <a:ea typeface="MS PGothic" charset="-128"/>
        </a:defRPr>
      </a:lvl2pPr>
      <a:lvl3pPr marL="1828800" indent="-365125" algn="l" defTabSz="1463675" rtl="0" eaLnBrk="0" fontAlgn="base" hangingPunct="0">
        <a:spcBef>
          <a:spcPct val="20000"/>
        </a:spcBef>
        <a:spcAft>
          <a:spcPct val="0"/>
        </a:spcAft>
        <a:buChar char="•"/>
        <a:defRPr sz="3800">
          <a:solidFill>
            <a:schemeClr val="tx1"/>
          </a:solidFill>
          <a:latin typeface="+mn-lt"/>
          <a:ea typeface="MS PGothic" charset="-128"/>
        </a:defRPr>
      </a:lvl3pPr>
      <a:lvl4pPr marL="2560955" indent="-367030" algn="l" defTabSz="1463675" rtl="0" eaLnBrk="0" fontAlgn="base" hangingPunct="0">
        <a:spcBef>
          <a:spcPct val="20000"/>
        </a:spcBef>
        <a:spcAft>
          <a:spcPct val="0"/>
        </a:spcAft>
        <a:buChar char="–"/>
        <a:defRPr sz="3200">
          <a:solidFill>
            <a:schemeClr val="tx1"/>
          </a:solidFill>
          <a:latin typeface="+mn-lt"/>
          <a:ea typeface="MS PGothic" charset="-128"/>
        </a:defRPr>
      </a:lvl4pPr>
      <a:lvl5pPr marL="3292475" indent="-367030" algn="l" defTabSz="1463675" rtl="0" eaLnBrk="0" fontAlgn="base" hangingPunct="0">
        <a:spcBef>
          <a:spcPct val="20000"/>
        </a:spcBef>
        <a:spcAft>
          <a:spcPct val="0"/>
        </a:spcAft>
        <a:buChar char="»"/>
        <a:defRPr sz="3200">
          <a:solidFill>
            <a:schemeClr val="tx1"/>
          </a:solidFill>
          <a:latin typeface="+mn-lt"/>
          <a:ea typeface="MS PGothic" charset="-128"/>
        </a:defRPr>
      </a:lvl5pPr>
      <a:lvl6pPr marL="3749675" indent="-367030" algn="l" defTabSz="1463675" rtl="0" fontAlgn="base">
        <a:spcBef>
          <a:spcPct val="20000"/>
        </a:spcBef>
        <a:spcAft>
          <a:spcPct val="0"/>
        </a:spcAft>
        <a:buChar char="»"/>
        <a:defRPr sz="3200">
          <a:solidFill>
            <a:schemeClr val="tx1"/>
          </a:solidFill>
          <a:latin typeface="+mn-lt"/>
        </a:defRPr>
      </a:lvl6pPr>
      <a:lvl7pPr marL="4206875" indent="-367030" algn="l" defTabSz="1463675" rtl="0" fontAlgn="base">
        <a:spcBef>
          <a:spcPct val="20000"/>
        </a:spcBef>
        <a:spcAft>
          <a:spcPct val="0"/>
        </a:spcAft>
        <a:buChar char="»"/>
        <a:defRPr sz="3200">
          <a:solidFill>
            <a:schemeClr val="tx1"/>
          </a:solidFill>
          <a:latin typeface="+mn-lt"/>
        </a:defRPr>
      </a:lvl7pPr>
      <a:lvl8pPr marL="4664075" indent="-367030" algn="l" defTabSz="1463675" rtl="0" fontAlgn="base">
        <a:spcBef>
          <a:spcPct val="20000"/>
        </a:spcBef>
        <a:spcAft>
          <a:spcPct val="0"/>
        </a:spcAft>
        <a:buChar char="»"/>
        <a:defRPr sz="3200">
          <a:solidFill>
            <a:schemeClr val="tx1"/>
          </a:solidFill>
          <a:latin typeface="+mn-lt"/>
        </a:defRPr>
      </a:lvl8pPr>
      <a:lvl9pPr marL="5121275" indent="-367030" algn="l" defTabSz="1463675" rtl="0" fontAlgn="base">
        <a:spcBef>
          <a:spcPct val="20000"/>
        </a:spcBef>
        <a:spcAft>
          <a:spcPct val="0"/>
        </a:spcAft>
        <a:buChar char="»"/>
        <a:defRPr sz="3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Rectangle 1"/>
          <p:cNvSpPr/>
          <p:nvPr/>
        </p:nvSpPr>
        <p:spPr bwMode="auto">
          <a:xfrm>
            <a:off x="457200" y="1059815"/>
            <a:ext cx="14630400" cy="8686800"/>
          </a:xfrm>
          <a:prstGeom prst="rect">
            <a:avLst/>
          </a:prstGeom>
          <a:solidFill>
            <a:schemeClr val="bg1"/>
          </a:solidFill>
          <a:ln w="76200" cap="flat" cmpd="sng" algn="ctr">
            <a:solidFill>
              <a:schemeClr val="tx1">
                <a:lumMod val="75000"/>
                <a:lumOff val="25000"/>
              </a:schemeClr>
            </a:solidFill>
            <a:prstDash val="solid"/>
            <a:round/>
            <a:headEnd type="none" w="med" len="med"/>
            <a:tailEnd type="none" w="med" len="med"/>
          </a:ln>
          <a:effectLst/>
        </p:spPr>
        <p:txBody>
          <a:bodyPr/>
          <a:lstStyle/>
          <a:p>
            <a:pPr defTabSz="1463675">
              <a:defRPr/>
            </a:pPr>
            <a:endParaRPr lang="en-US" dirty="0"/>
          </a:p>
        </p:txBody>
      </p:sp>
      <p:sp>
        <p:nvSpPr>
          <p:cNvPr id="26627" name="TextBox 2"/>
          <p:cNvSpPr txBox="1">
            <a:spLocks noChangeArrowheads="1"/>
          </p:cNvSpPr>
          <p:nvPr/>
        </p:nvSpPr>
        <p:spPr bwMode="auto">
          <a:xfrm>
            <a:off x="152400" y="228600"/>
            <a:ext cx="4800600" cy="645160"/>
          </a:xfrm>
          <a:prstGeom prst="rect">
            <a:avLst/>
          </a:prstGeom>
          <a:noFill/>
          <a:ln>
            <a:noFill/>
          </a:ln>
        </p:spPr>
        <p:txBody>
          <a:bodyPr>
            <a:spAutoFit/>
          </a:bodyPr>
          <a:lstStyle>
            <a:lvl1pPr eaLnBrk="0" hangingPunct="0">
              <a:defRPr sz="2900">
                <a:solidFill>
                  <a:schemeClr val="tx1"/>
                </a:solidFill>
                <a:latin typeface="Arial" panose="020B0604020202020204" pitchFamily="34" charset="0"/>
                <a:ea typeface="MS PGothic" charset="0"/>
                <a:cs typeface="MS PGothic" charset="0"/>
              </a:defRPr>
            </a:lvl1pPr>
            <a:lvl2pPr marL="742950" indent="-285750" eaLnBrk="0" hangingPunct="0">
              <a:defRPr sz="2900">
                <a:solidFill>
                  <a:schemeClr val="tx1"/>
                </a:solidFill>
                <a:latin typeface="Arial" panose="020B0604020202020204" pitchFamily="34" charset="0"/>
                <a:ea typeface="MS PGothic" charset="0"/>
              </a:defRPr>
            </a:lvl2pPr>
            <a:lvl3pPr marL="1143000" indent="-228600" eaLnBrk="0" hangingPunct="0">
              <a:defRPr sz="2900">
                <a:solidFill>
                  <a:schemeClr val="tx1"/>
                </a:solidFill>
                <a:latin typeface="Arial" panose="020B0604020202020204" pitchFamily="34" charset="0"/>
                <a:ea typeface="MS PGothic" charset="0"/>
              </a:defRPr>
            </a:lvl3pPr>
            <a:lvl4pPr marL="1600200" indent="-228600" eaLnBrk="0" hangingPunct="0">
              <a:defRPr sz="2900">
                <a:solidFill>
                  <a:schemeClr val="tx1"/>
                </a:solidFill>
                <a:latin typeface="Arial" panose="020B0604020202020204" pitchFamily="34" charset="0"/>
                <a:ea typeface="MS PGothic" charset="0"/>
              </a:defRPr>
            </a:lvl4pPr>
            <a:lvl5pPr marL="2057400" indent="-228600" eaLnBrk="0" hangingPunct="0">
              <a:defRPr sz="2900">
                <a:solidFill>
                  <a:schemeClr val="tx1"/>
                </a:solidFill>
                <a:latin typeface="Arial" panose="020B0604020202020204" pitchFamily="34" charset="0"/>
                <a:ea typeface="MS PGothic" charset="0"/>
              </a:defRPr>
            </a:lvl5pPr>
            <a:lvl6pPr marL="25146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6pPr>
            <a:lvl7pPr marL="29718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7pPr>
            <a:lvl8pPr marL="34290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8pPr>
            <a:lvl9pPr marL="38862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9pPr>
          </a:lstStyle>
          <a:p>
            <a:pPr eaLnBrk="1" hangingPunct="1"/>
            <a:r>
              <a:rPr lang="en-US" sz="3600" dirty="0">
                <a:latin typeface="Helvetica" charset="0"/>
                <a:cs typeface="Helvetica" charset="0"/>
              </a:rPr>
              <a:t>Lean UX Canvas</a:t>
            </a:r>
            <a:endParaRPr lang="en-US" sz="3600" dirty="0">
              <a:latin typeface="Helvetica" charset="0"/>
              <a:cs typeface="Helvetica" charset="0"/>
            </a:endParaRPr>
          </a:p>
        </p:txBody>
      </p:sp>
      <p:sp>
        <p:nvSpPr>
          <p:cNvPr id="4" name="Rectangle 3"/>
          <p:cNvSpPr/>
          <p:nvPr/>
        </p:nvSpPr>
        <p:spPr bwMode="auto">
          <a:xfrm>
            <a:off x="457200" y="3008630"/>
            <a:ext cx="5410200" cy="24511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Users</a:t>
            </a:r>
            <a:endParaRPr lang="en-US" sz="1000" dirty="0">
              <a:latin typeface="Helvetica Neue"/>
              <a:cs typeface="Helvetica Neue"/>
            </a:endParaRPr>
          </a:p>
          <a:p>
            <a:pPr>
              <a:defRPr/>
            </a:pPr>
            <a:r>
              <a:rPr lang="en-US" sz="1000" dirty="0">
                <a:latin typeface="Helvetica Neue"/>
                <a:cs typeface="Helvetica Neue"/>
              </a:rPr>
              <a:t>Debemos enfocarnos primero en dos tipos principales de usuarios y clientes:</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Administradores de establecimientos públicos y privados, porque son quienes compran, implementan y supervisan el uso de la solución dentro de sus espacios. Este grupo es clave ya que toma decisiones sobre inversión, configura el monitoreo y utiliza la Web App para revisar reportes, recibir alertas y demostrar que su establecimiento es seguro.</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Personas preocupadas por la calidad del aire en el hogar, porque son los usuarios finales que buscan monitorear su vivienda para proteger la salud de su familia. Este grupo usa directamente la aplicación móvil, interpreta los indicadores visuales y actúa ante alertas para mejorar la ventilación y reducir riesgos.</a:t>
            </a:r>
            <a:endParaRPr lang="en-US" sz="1000" dirty="0">
              <a:latin typeface="Helvetica Neue"/>
              <a:cs typeface="Helvetica Neue"/>
            </a:endParaRPr>
          </a:p>
          <a:p>
            <a:pPr marL="0" indent="0">
              <a:buFont typeface="Arial" panose="020B0604020202020204" pitchFamily="34" charset="0"/>
              <a:buNone/>
              <a:defRPr/>
            </a:pPr>
            <a:r>
              <a:rPr lang="en-US" sz="1000" dirty="0">
                <a:latin typeface="Helvetica Neue"/>
                <a:cs typeface="Helvetica Neue"/>
              </a:rPr>
              <a:t>En una primera etapa, el foco principal debería estar en los administradores de establecimientos, ya que representan al cliente que compra la solución y generan validación inicial del valor de negocio.</a:t>
            </a:r>
            <a:endParaRPr lang="en-US" sz="1000" dirty="0">
              <a:latin typeface="Helvetica Neue"/>
              <a:cs typeface="Helvetica Neue"/>
            </a:endParaRPr>
          </a:p>
        </p:txBody>
      </p:sp>
      <p:sp>
        <p:nvSpPr>
          <p:cNvPr id="6" name="Rectangle 5"/>
          <p:cNvSpPr/>
          <p:nvPr/>
        </p:nvSpPr>
        <p:spPr bwMode="auto">
          <a:xfrm>
            <a:off x="5867400" y="1052195"/>
            <a:ext cx="3810000" cy="3297555"/>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Solutions</a:t>
            </a:r>
            <a:endParaRPr lang="en-US" sz="2000" b="1" dirty="0">
              <a:latin typeface="Helvetica Neue"/>
              <a:cs typeface="Helvetica Neue"/>
            </a:endParaRPr>
          </a:p>
          <a:p>
            <a:pPr marL="228600" indent="-228600">
              <a:buAutoNum type="arabicPeriod"/>
              <a:defRPr/>
            </a:pPr>
            <a:r>
              <a:rPr lang="en-US" sz="1000" dirty="0">
                <a:latin typeface="Helvetica Neue"/>
                <a:cs typeface="Helvetica Neue"/>
              </a:rPr>
              <a:t>Un sensor inteligente que mida en tiempo real los niveles de PM2.5 y CO2 en espacios cerrados.</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Una aplicación web para administradores de establecimientos que permita visualizar el estado de la calidad del aire, revisar reportes históricos y monitorear varios espacios.</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Una aplicación móvil para usuarios del hogar y administradores que muestre indicadores visuales simples sobre la calidad del aire.</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Alertas en tiempo real cuando los niveles de CO2 o PM2.5 superen los límites recomendados.</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Reportes históricos que ayuden a demostrar condiciones adecuadas de salubridad y respalden decisiones operativas.</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Un sistema de visualización basado en colores y niveles para que cualquier usuario pueda entender rápidamente el estado del aire</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Un modelo de monitoreo continuo que combine hardware y software en una solución accesible y fácil de usar. </a:t>
            </a:r>
            <a:endParaRPr lang="en-US" sz="1000" dirty="0">
              <a:latin typeface="Helvetica Neue"/>
              <a:cs typeface="Helvetica Neue"/>
            </a:endParaRPr>
          </a:p>
        </p:txBody>
      </p:sp>
      <p:sp>
        <p:nvSpPr>
          <p:cNvPr id="7" name="Rectangle 6"/>
          <p:cNvSpPr/>
          <p:nvPr/>
        </p:nvSpPr>
        <p:spPr bwMode="auto">
          <a:xfrm>
            <a:off x="9677400" y="3825240"/>
            <a:ext cx="5419725" cy="5916295"/>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 Outcomes &amp; Benefits</a:t>
            </a:r>
            <a:endParaRPr lang="en-US" sz="2000" b="1" dirty="0">
              <a:latin typeface="Helvetica Neue"/>
              <a:cs typeface="Helvetica Neue"/>
            </a:endParaRPr>
          </a:p>
          <a:p>
            <a:pPr>
              <a:defRPr/>
            </a:pPr>
            <a:r>
              <a:rPr lang="en-US" sz="1000" dirty="0">
                <a:latin typeface="Helvetica Neue"/>
                <a:cs typeface="Helvetica Neue"/>
              </a:rPr>
              <a:t>Los usuarios buscarían nuestro producto porque les permite conocer en tiempo real la calidad del aire interior en los espacios que administran o frecuentan, algo que hoy no pueden visualizar fácilmente. El principal beneficio que obtienen es mayor seguridad, confianza y capacidad de tomar decisiones oportunas para proteger la salud, mejorar la ventilación y ofrecer un ambiente más saludable.</a:t>
            </a:r>
            <a:endParaRPr lang="en-US" sz="1000" dirty="0">
              <a:latin typeface="Helvetica Neue"/>
              <a:cs typeface="Helvetica Neue"/>
            </a:endParaRPr>
          </a:p>
          <a:p>
            <a:pPr>
              <a:defRPr/>
            </a:pPr>
            <a:endParaRPr lang="en-US" sz="1000" dirty="0">
              <a:latin typeface="Helvetica Neue"/>
              <a:cs typeface="Helvetica Neue"/>
            </a:endParaRPr>
          </a:p>
          <a:p>
            <a:pPr>
              <a:defRPr/>
            </a:pPr>
            <a:r>
              <a:rPr lang="en-US" sz="1000" dirty="0">
                <a:latin typeface="Helvetica Neue"/>
                <a:cs typeface="Helvetica Neue"/>
              </a:rPr>
              <a:t>Sabremos que lograron su objetivo cuando observemos cambios en su comportamiento, como revisar con frecuencia los indicadores de calidad del aire, responder a las alertas, aplicar recomendaciones como ventilar el espacio o reducir el aforo, y usar los reportes para mantener condiciones más seguras de manera continua.</a:t>
            </a:r>
            <a:endParaRPr lang="en-US" sz="1000" dirty="0">
              <a:latin typeface="Helvetica Neue"/>
              <a:cs typeface="Helvetica Neue"/>
            </a:endParaRPr>
          </a:p>
        </p:txBody>
      </p:sp>
      <p:sp>
        <p:nvSpPr>
          <p:cNvPr id="8" name="Rectangle 7"/>
          <p:cNvSpPr/>
          <p:nvPr/>
        </p:nvSpPr>
        <p:spPr bwMode="auto">
          <a:xfrm>
            <a:off x="485775" y="5459730"/>
            <a:ext cx="5381625" cy="428117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Hypotheses</a:t>
            </a:r>
            <a:endParaRPr lang="en-US" sz="2000" b="1" dirty="0">
              <a:latin typeface="Helvetica Neue"/>
              <a:cs typeface="Helvetica Neue"/>
            </a:endParaRPr>
          </a:p>
          <a:p>
            <a:pPr marL="228600" indent="-228600">
              <a:buAutoNum type="arabicPeriod"/>
              <a:defRPr/>
            </a:pPr>
            <a:r>
              <a:rPr lang="en-US" sz="1000" dirty="0">
                <a:latin typeface="Helvetica Neue"/>
                <a:cs typeface="Helvetica Neue"/>
              </a:rPr>
              <a:t>Creemos que los administradores de espacios comerciales tomarán mejores decisiones para proteger la salud de sus clientes y mejorar la confianza en su negocio. Sabremos que esto es cierto cuando al menos el 50% de los administradores consulten en tiempo real los datos de PM2.5 y CO2 de sus espacios al menos una vez por día.</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Creemos que los usuarios comprenderán más fácilmente el estado de la calidad del aire interior. Sabremos que esto es cierto cuando al menos el 70% de los usuarios interpreten correctamente los niveles de riesgo usando la interfaz visual de colores y niveles sin necesidad de explicación adicional.</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Creemos que los administradores y usuarios reaccionarán oportunamente ante episodios de mala calidad del aire. Sabremos que esto es cierto cuando al menos el 40% de las alertas generadas produzcan una acción correctiva, como ventilar el espacio o reducir el aforo.</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Creemos que los administradores percibirán mayor valor en la plataforma al contar con evidencia histórica sobre la calidad del aire de sus locales. Sabremos que esto es cierto cuando al menos el 50% de los administradores revisen o descarguen reportes históricos al menos una vez por semana.</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Creemos que los usuarios mejorarán las condiciones de su entorno siguiendo la orientación de la plataforma. Sabremos que esto es cierto cuando al menos el 40% de los usuarios apliquen las recomendaciones automáticas y registren una mejora en los niveles de calidad del aire durante el periodo de uso.</a:t>
            </a:r>
            <a:endParaRPr lang="en-US" sz="1000" dirty="0">
              <a:latin typeface="Helvetica Neue"/>
              <a:cs typeface="Helvetica Neue"/>
            </a:endParaRPr>
          </a:p>
        </p:txBody>
      </p:sp>
      <p:sp>
        <p:nvSpPr>
          <p:cNvPr id="9" name="Rectangle 8"/>
          <p:cNvSpPr/>
          <p:nvPr/>
        </p:nvSpPr>
        <p:spPr bwMode="auto">
          <a:xfrm>
            <a:off x="9677400" y="6205855"/>
            <a:ext cx="5419725" cy="3535045"/>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least amount of work we need to do to learn the next most important thing?</a:t>
            </a:r>
            <a:endParaRPr lang="en-US" sz="2000" b="1" dirty="0">
              <a:latin typeface="Helvetica Neue"/>
              <a:cs typeface="Helvetica Neue"/>
            </a:endParaRPr>
          </a:p>
          <a:p>
            <a:pPr>
              <a:defRPr/>
            </a:pPr>
            <a:r>
              <a:rPr lang="en-US" sz="1000" dirty="0">
                <a:latin typeface="Helvetica Neue"/>
                <a:cs typeface="Helvetica Neue"/>
              </a:rPr>
              <a:t>La menor cantidad de trabajo que necesitamos hacer para aprender lo siguiente más importante es realizar entrevistas y pruebas rápidas con administradores de espacios comerciales usando una propuesta de valor simple y un prototipo básico de la solución. De esta manera podremos validar si realmente consideran importante monitorear la calidad del aire interior y si perciben valor en usar una herramienta como Clair.</a:t>
            </a:r>
            <a:endParaRPr lang="en-US" sz="1000" dirty="0">
              <a:latin typeface="Helvetica Neue"/>
              <a:cs typeface="Helvetica Neue"/>
            </a:endParaRPr>
          </a:p>
          <a:p>
            <a:pPr>
              <a:defRPr/>
            </a:pPr>
            <a:endParaRPr lang="en-US" sz="1000" dirty="0">
              <a:latin typeface="Helvetica Neue"/>
              <a:cs typeface="Helvetica Neue"/>
            </a:endParaRPr>
          </a:p>
          <a:p>
            <a:pPr>
              <a:defRPr/>
            </a:pPr>
            <a:r>
              <a:rPr lang="en-US" sz="1000" dirty="0">
                <a:latin typeface="Helvetica Neue"/>
                <a:cs typeface="Helvetica Neue"/>
              </a:rPr>
              <a:t>Para aprender lo más rápido posible si nuestro supuesto más riesgoso es verdadero o falso, podemos diseñar experimentos como mostrar una landing page o mockup del producto, presentar ejemplos de alertas, visualizaciones y</a:t>
            </a:r>
            <a:endParaRPr lang="en-US" sz="1000" dirty="0">
              <a:latin typeface="Helvetica Neue"/>
              <a:cs typeface="Helvetica Neue"/>
            </a:endParaRPr>
          </a:p>
          <a:p>
            <a:pPr>
              <a:defRPr/>
            </a:pPr>
            <a:r>
              <a:rPr lang="en-US" sz="1000" dirty="0">
                <a:latin typeface="Helvetica Neue"/>
                <a:cs typeface="Helvetica Neue"/>
              </a:rPr>
              <a:t> reportes, y luego medir si los administradores entienden el problema, muestran interés real, solicitan más información o estarían dispuestos a probar la solución en su local. Si no muestran interés ni perciben valor, sabremos tempranamente que debemos replantear la propuesta antes de invertir en mayor desarrollo.</a:t>
            </a:r>
            <a:endParaRPr lang="en-US" sz="1000" dirty="0">
              <a:latin typeface="Helvetica Neue"/>
              <a:cs typeface="Helvetica Neue"/>
            </a:endParaRPr>
          </a:p>
        </p:txBody>
      </p:sp>
      <p:sp>
        <p:nvSpPr>
          <p:cNvPr id="12" name="Rectangle 11"/>
          <p:cNvSpPr/>
          <p:nvPr/>
        </p:nvSpPr>
        <p:spPr bwMode="auto">
          <a:xfrm>
            <a:off x="457200" y="1059815"/>
            <a:ext cx="5410200" cy="194818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Problem</a:t>
            </a:r>
            <a:endParaRPr lang="en-US" sz="2000" b="1" dirty="0">
              <a:latin typeface="Helvetica Neue"/>
              <a:cs typeface="Helvetica Neue"/>
            </a:endParaRPr>
          </a:p>
          <a:p>
            <a:pPr>
              <a:defRPr/>
            </a:pPr>
            <a:r>
              <a:rPr lang="en-US" sz="1000" dirty="0">
                <a:latin typeface="Helvetica Neue"/>
                <a:cs typeface="Helvetica Neue"/>
              </a:rPr>
              <a:t>El problema de negocio es que los espacios comerciales cerrados de Lima Metropolitana no cuentan con una solución accesible para monitorear y gestionar la calidad del aire interior en tiempo real. Esto impide a los administradores identificar niveles críticos de PM2.5 y CO2, tomar decisiones oportunas para mejorar la ventilación y demostrar a sus clientes que el local es seguro y saludable. Como resultado, los negocios operan con un riesgo invisible que afecta la experiencia del usuario, la percepción de confianza y su capacidad de diferenciarse competitivamente en el mercado.</a:t>
            </a:r>
            <a:endParaRPr lang="en-US" sz="1000" dirty="0">
              <a:latin typeface="Helvetica Neue"/>
              <a:cs typeface="Helvetica Neue"/>
            </a:endParaRPr>
          </a:p>
        </p:txBody>
      </p:sp>
      <p:sp>
        <p:nvSpPr>
          <p:cNvPr id="14" name="Rectangle 13"/>
          <p:cNvSpPr/>
          <p:nvPr/>
        </p:nvSpPr>
        <p:spPr bwMode="auto">
          <a:xfrm>
            <a:off x="9677400" y="1066800"/>
            <a:ext cx="5419725" cy="278003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Outcomes</a:t>
            </a:r>
            <a:endParaRPr lang="en-US" sz="2000" b="1" dirty="0">
              <a:latin typeface="Helvetica Neue"/>
              <a:cs typeface="Helvetica Neue"/>
            </a:endParaRPr>
          </a:p>
          <a:p>
            <a:pPr>
              <a:defRPr/>
            </a:pPr>
            <a:r>
              <a:rPr lang="en-US" sz="1000" dirty="0">
                <a:latin typeface="Helvetica Neue"/>
                <a:cs typeface="Helvetica Neue"/>
              </a:rPr>
              <a:t>Sabremos que resolvimos el problema de negocio cuando los administradores de espacios comerciales usen activamente la solución para monitorear la calidad del aire y tomen decisiones basadas en la información proporcionada. Esto se reflejará en una adopción sostenida de la plataforma, en el uso frecuente de los datos, alertas y reportes, y en una mayor percepción de confianza y seguridad por parte de los clientes.</a:t>
            </a:r>
            <a:endParaRPr lang="en-US" sz="1000" dirty="0">
              <a:latin typeface="Helvetica Neue"/>
              <a:cs typeface="Helvetica Neue"/>
            </a:endParaRPr>
          </a:p>
          <a:p>
            <a:pPr>
              <a:defRPr/>
            </a:pPr>
            <a:endParaRPr lang="en-US" sz="1000" dirty="0">
              <a:latin typeface="Helvetica Neue"/>
              <a:cs typeface="Helvetica Neue"/>
            </a:endParaRPr>
          </a:p>
          <a:p>
            <a:pPr>
              <a:defRPr/>
            </a:pPr>
            <a:r>
              <a:rPr lang="en-US" sz="1000" dirty="0">
                <a:latin typeface="Helvetica Neue"/>
                <a:cs typeface="Helvetica Neue"/>
              </a:rPr>
              <a:t>Mediremos esto a través de los siguientes indicadores:</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Cantidad de negocios que implementan la solución.</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Frecuencia de uso de la plataforma por parte de los administradores.</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Porcentaje de usuarios que revisan alertas y reportes de calidad del aire.</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Tasa de retención de negocios suscritos al servicio.</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Cantidad de acciones correctivas realizadas a partir de alertas o recomendaciones.</a:t>
            </a:r>
            <a:endParaRPr lang="en-US" sz="1000" dirty="0">
              <a:latin typeface="Helvetica Neue"/>
              <a:cs typeface="Helvetica Neue"/>
            </a:endParaRPr>
          </a:p>
          <a:p>
            <a:pPr marL="171450" indent="-171450">
              <a:buFont typeface="Arial" panose="020B0604020202020204" pitchFamily="34" charset="0"/>
              <a:buChar char="•"/>
              <a:defRPr/>
            </a:pPr>
            <a:r>
              <a:rPr lang="en-US" sz="1000" dirty="0">
                <a:latin typeface="Helvetica Neue"/>
                <a:cs typeface="Helvetica Neue"/>
              </a:rPr>
              <a:t>Nivel de satisfacción y confianza percibida por los clientes en los espacios monitoreados.</a:t>
            </a:r>
            <a:r>
              <a:rPr lang="en-US" sz="1000" i="1" dirty="0">
                <a:latin typeface="Helvetica Neue"/>
                <a:cs typeface="Helvetica Neue"/>
              </a:rPr>
              <a:t> </a:t>
            </a:r>
            <a:endParaRPr lang="en-US" sz="1000" i="1" dirty="0">
              <a:latin typeface="Helvetica Neue"/>
              <a:cs typeface="Helvetica Neue"/>
            </a:endParaRPr>
          </a:p>
        </p:txBody>
      </p:sp>
      <p:sp>
        <p:nvSpPr>
          <p:cNvPr id="26637" name="Rectangle 15"/>
          <p:cNvSpPr>
            <a:spLocks noChangeArrowheads="1"/>
          </p:cNvSpPr>
          <p:nvPr/>
        </p:nvSpPr>
        <p:spPr bwMode="auto">
          <a:xfrm>
            <a:off x="4800600" y="325438"/>
            <a:ext cx="7772400" cy="547687"/>
          </a:xfrm>
          <a:prstGeom prst="rect">
            <a:avLst/>
          </a:prstGeom>
          <a:solidFill>
            <a:schemeClr val="bg1"/>
          </a:solidFill>
          <a:ln>
            <a:noFill/>
          </a:ln>
        </p:spPr>
        <p:txBody>
          <a:bodyPr/>
          <a:lstStyle/>
          <a:p>
            <a:pPr defTabSz="1463675"/>
            <a:r>
              <a:rPr lang="en-US" sz="1000" dirty="0">
                <a:latin typeface="Helvetica Neue" charset="0"/>
                <a:cs typeface="Helvetica Neue" charset="0"/>
              </a:rPr>
              <a:t>Title of initiative: Clair: Monitoreo Inteligente de la Calidad del Aire Interior</a:t>
            </a:r>
            <a:endParaRPr lang="en-US" sz="1000" dirty="0">
              <a:latin typeface="Helvetica Neue" charset="0"/>
              <a:cs typeface="Helvetica Neue" charset="0"/>
            </a:endParaRPr>
          </a:p>
        </p:txBody>
      </p:sp>
      <p:sp>
        <p:nvSpPr>
          <p:cNvPr id="26638" name="Rectangle 17"/>
          <p:cNvSpPr>
            <a:spLocks noChangeArrowheads="1"/>
          </p:cNvSpPr>
          <p:nvPr/>
        </p:nvSpPr>
        <p:spPr bwMode="auto">
          <a:xfrm>
            <a:off x="12801600" y="352425"/>
            <a:ext cx="2286000" cy="228600"/>
          </a:xfrm>
          <a:prstGeom prst="rect">
            <a:avLst/>
          </a:prstGeom>
          <a:solidFill>
            <a:schemeClr val="bg1"/>
          </a:solidFill>
          <a:ln>
            <a:noFill/>
          </a:ln>
        </p:spPr>
        <p:txBody>
          <a:bodyPr/>
          <a:lstStyle/>
          <a:p>
            <a:pPr defTabSz="1463675"/>
            <a:r>
              <a:rPr lang="en-US" sz="1000">
                <a:latin typeface="Helvetica Neue" charset="0"/>
                <a:cs typeface="Helvetica Neue" charset="0"/>
              </a:rPr>
              <a:t>Date: 3 de abril de 2026</a:t>
            </a:r>
            <a:endParaRPr lang="en-US" sz="1000">
              <a:latin typeface="Helvetica Neue" charset="0"/>
              <a:cs typeface="Helvetica Neue" charset="0"/>
            </a:endParaRPr>
          </a:p>
        </p:txBody>
      </p:sp>
      <p:sp>
        <p:nvSpPr>
          <p:cNvPr id="26639" name="Rectangle 18"/>
          <p:cNvSpPr>
            <a:spLocks noChangeArrowheads="1"/>
          </p:cNvSpPr>
          <p:nvPr/>
        </p:nvSpPr>
        <p:spPr bwMode="auto">
          <a:xfrm>
            <a:off x="12801600" y="644525"/>
            <a:ext cx="2286000" cy="228600"/>
          </a:xfrm>
          <a:prstGeom prst="rect">
            <a:avLst/>
          </a:prstGeom>
          <a:solidFill>
            <a:schemeClr val="bg1"/>
          </a:solidFill>
          <a:ln>
            <a:noFill/>
          </a:ln>
        </p:spPr>
        <p:txBody>
          <a:bodyPr/>
          <a:lstStyle/>
          <a:p>
            <a:pPr defTabSz="1463675"/>
            <a:r>
              <a:rPr lang="en-US" sz="1000">
                <a:latin typeface="Helvetica Neue" charset="0"/>
                <a:cs typeface="Helvetica Neue" charset="0"/>
              </a:rPr>
              <a:t>Iteration: 1</a:t>
            </a:r>
            <a:endParaRPr lang="en-US" sz="1000">
              <a:latin typeface="Helvetica Neue" charset="0"/>
              <a:cs typeface="Helvetica Neue" charset="0"/>
            </a:endParaRPr>
          </a:p>
        </p:txBody>
      </p:sp>
      <p:sp>
        <p:nvSpPr>
          <p:cNvPr id="13" name="TextBox 12"/>
          <p:cNvSpPr txBox="1"/>
          <p:nvPr/>
        </p:nvSpPr>
        <p:spPr>
          <a:xfrm>
            <a:off x="1432216" y="9672935"/>
            <a:ext cx="13664910" cy="461665"/>
          </a:xfrm>
          <a:prstGeom prst="rect">
            <a:avLst/>
          </a:prstGeom>
          <a:noFill/>
        </p:spPr>
        <p:txBody>
          <a:bodyPr wrap="square" rtlCol="0">
            <a:spAutoFit/>
          </a:bodyPr>
          <a:lstStyle/>
          <a:p>
            <a:r>
              <a:rPr lang="en-US" sz="1600" dirty="0">
                <a:latin typeface="Helvetica Neue" charset="0"/>
                <a:ea typeface="Helvetica Neue" charset="0"/>
                <a:cs typeface="Helvetica Neue" charset="0"/>
              </a:rPr>
              <a:t>Download this canvas at: </a:t>
            </a:r>
            <a:r>
              <a:rPr lang="en-US" sz="1600" b="1" u="sng" dirty="0">
                <a:latin typeface="Helvetica Neue" charset="0"/>
                <a:ea typeface="Helvetica Neue" charset="0"/>
                <a:cs typeface="Helvetica Neue" charset="0"/>
              </a:rPr>
              <a:t>www.jeffgothelf.com/blog/leanuxcanvas-v2</a:t>
            </a:r>
            <a:r>
              <a:rPr lang="en-US" sz="1600" dirty="0">
                <a:latin typeface="Helvetica Neue" charset="0"/>
                <a:ea typeface="Helvetica Neue" charset="0"/>
                <a:cs typeface="Helvetica Neue" charset="0"/>
              </a:rPr>
              <a:t>  </a:t>
            </a:r>
            <a:r>
              <a:rPr lang="en-US" sz="2400" dirty="0">
                <a:solidFill>
                  <a:srgbClr val="FF0000"/>
                </a:solidFill>
                <a:latin typeface="Helvetica Neue" charset="0"/>
                <a:ea typeface="Helvetica Neue" charset="0"/>
                <a:cs typeface="Helvetica Neue" charset="0"/>
              </a:rPr>
              <a:t>	</a:t>
            </a:r>
            <a:endParaRPr lang="en-US" sz="2400" dirty="0">
              <a:solidFill>
                <a:srgbClr val="FF0000"/>
              </a:solidFill>
              <a:latin typeface="Helvetica Neue" charset="0"/>
              <a:ea typeface="Helvetica Neue" charset="0"/>
              <a:cs typeface="Helvetica Neue" charset="0"/>
            </a:endParaRPr>
          </a:p>
        </p:txBody>
      </p:sp>
      <p:pic>
        <p:nvPicPr>
          <p:cNvPr id="15" name="Picture 14"/>
          <p:cNvPicPr>
            <a:picLocks noChangeAspect="1"/>
          </p:cNvPicPr>
          <p:nvPr/>
        </p:nvPicPr>
        <p:blipFill>
          <a:blip r:embed="rId1"/>
          <a:stretch>
            <a:fillRect/>
          </a:stretch>
        </p:blipFill>
        <p:spPr>
          <a:xfrm>
            <a:off x="406690" y="9834274"/>
            <a:ext cx="1016000" cy="190500"/>
          </a:xfrm>
          <a:prstGeom prst="rect">
            <a:avLst/>
          </a:prstGeom>
        </p:spPr>
      </p:pic>
      <p:sp>
        <p:nvSpPr>
          <p:cNvPr id="10" name="Rectangle 9"/>
          <p:cNvSpPr/>
          <p:nvPr/>
        </p:nvSpPr>
        <p:spPr bwMode="auto">
          <a:xfrm>
            <a:off x="5867400" y="4352925"/>
            <a:ext cx="3810000" cy="5387975"/>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most important thing we need to learn first?</a:t>
            </a:r>
            <a:endParaRPr lang="en-US" sz="2000" b="1" dirty="0">
              <a:latin typeface="Helvetica Neue"/>
              <a:cs typeface="Helvetica Neue"/>
            </a:endParaRPr>
          </a:p>
          <a:p>
            <a:pPr marL="0" indent="0">
              <a:buNone/>
              <a:defRPr/>
            </a:pPr>
            <a:r>
              <a:rPr lang="en-US" sz="1000" dirty="0">
                <a:latin typeface="Helvetica Neue"/>
                <a:cs typeface="Helvetica Neue"/>
              </a:rPr>
              <a:t>Lo más importante que necesitamos aprender primero es si los administradores de espacios comerciales realmente consideran que la calidad del aire interior es un problema importante para su negocio y si estarían dispuestos a usar una solución para monitorearla y actuar en base a esa información.</a:t>
            </a:r>
            <a:endParaRPr lang="en-US" sz="1000" dirty="0">
              <a:latin typeface="Helvetica Neue"/>
              <a:cs typeface="Helvetica Neue"/>
            </a:endParaRPr>
          </a:p>
          <a:p>
            <a:pPr>
              <a:defRPr/>
            </a:pPr>
            <a:endParaRPr lang="en-US" sz="1000" dirty="0">
              <a:latin typeface="Helvetica Neue"/>
              <a:cs typeface="Helvetica Neue"/>
            </a:endParaRPr>
          </a:p>
          <a:p>
            <a:pPr marL="228600" indent="-228600">
              <a:buAutoNum type="arabicPeriod"/>
              <a:defRPr/>
            </a:pPr>
            <a:r>
              <a:rPr lang="en-US" sz="1000" dirty="0">
                <a:latin typeface="Helvetica Neue"/>
                <a:cs typeface="Helvetica Neue"/>
              </a:rPr>
              <a:t>Hipótesis 1: El supuesto más riesgoso es que los administradores valorarán los datos en tiempo real de PM2.5 y CO2 y los usarán para tomar decisiones.</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Hipótesis 2: El supuesto más riesgoso es que una interfaz visual simple permitirá a los usuarios comprender fácilmente el estado de la calidad del aire.</a:t>
            </a:r>
            <a:endParaRPr lang="en-US" sz="1000" dirty="0">
              <a:latin typeface="Helvetica Neue"/>
              <a:cs typeface="Helvetica Neue"/>
            </a:endParaRPr>
          </a:p>
          <a:p>
            <a:pPr marL="228600" indent="-228600">
              <a:buAutoNum type="arabicPeriod"/>
              <a:defRPr/>
            </a:pPr>
            <a:r>
              <a:rPr lang="en-US" sz="1000" dirty="0">
                <a:latin typeface="Helvetica Neue"/>
                <a:cs typeface="Helvetica Neue"/>
              </a:rPr>
              <a:t>Hipótesis </a:t>
            </a:r>
            <a:r>
              <a:rPr lang="en-US" sz="1000" dirty="0">
                <a:latin typeface="Helvetica Neue"/>
                <a:cs typeface="Helvetica Neue"/>
                <a:sym typeface="+mn-ea"/>
              </a:rPr>
              <a:t>3: El supuesto más riesgoso es que los usuarios reaccionarán ante las alertas en tiempo real y realizarán acciones correctivas.</a:t>
            </a:r>
            <a:endParaRPr lang="en-US" sz="1000" dirty="0">
              <a:latin typeface="Helvetica Neue"/>
              <a:cs typeface="Helvetica Neue"/>
            </a:endParaRPr>
          </a:p>
          <a:p>
            <a:pPr marL="228600" indent="-228600">
              <a:buAutoNum type="arabicPeriod"/>
              <a:defRPr/>
            </a:pPr>
            <a:r>
              <a:rPr lang="en-US" sz="1000" dirty="0">
                <a:latin typeface="Helvetica Neue"/>
                <a:cs typeface="Helvetica Neue"/>
                <a:sym typeface="+mn-ea"/>
              </a:rPr>
              <a:t>Hipótesis 4: El supuesto más riesgoso es que los administradores percibirán valor en los reportes históricos como evidencia para mejorar su operación o reputación.</a:t>
            </a:r>
            <a:endParaRPr lang="en-US" sz="1000" dirty="0">
              <a:latin typeface="Helvetica Neue"/>
              <a:cs typeface="Helvetica Neue"/>
            </a:endParaRPr>
          </a:p>
          <a:p>
            <a:pPr marL="228600" indent="-228600">
              <a:buAutoNum type="arabicPeriod"/>
              <a:defRPr/>
            </a:pPr>
            <a:r>
              <a:rPr lang="en-US" sz="1000" dirty="0">
                <a:latin typeface="Helvetica Neue"/>
                <a:cs typeface="Helvetica Neue"/>
                <a:sym typeface="+mn-ea"/>
              </a:rPr>
              <a:t>Hipótesis 5: El supuesto más riesgoso es que los usuarios confiarán en las recomendaciones automáticas y las aplicarán para mejorar su entorno.</a:t>
            </a:r>
            <a:endParaRPr lang="en-US" sz="1000" dirty="0">
              <a:latin typeface="Helvetica Neue"/>
              <a:cs typeface="Helvetica Neue"/>
            </a:endParaRPr>
          </a:p>
          <a:p>
            <a:pPr marL="228600" indent="-228600">
              <a:buAutoNum type="arabicPeriod"/>
              <a:defRPr/>
            </a:pPr>
            <a:endParaRPr lang="en-US" sz="1000" dirty="0">
              <a:latin typeface="Helvetica Neue"/>
              <a:cs typeface="Helvetica Neue"/>
            </a:endParaRPr>
          </a:p>
          <a:p>
            <a:pPr marL="0" indent="0">
              <a:buNone/>
              <a:defRPr/>
            </a:pPr>
            <a:r>
              <a:rPr lang="en-US" sz="1000" dirty="0">
                <a:latin typeface="Helvetica Neue"/>
                <a:cs typeface="Helvetica Neue"/>
                <a:sym typeface="+mn-ea"/>
              </a:rPr>
              <a:t>El supuesto más riesgoso en este momento es que los administradores de espacios comerciales realmente perciben la calidad del aire interior como un problema relevante y valioso de resolver. Si este supuesto es incorrecto, la idea completa fracasa porque la solución no tendría suficiente valor para ser adoptada.</a:t>
            </a:r>
            <a:endParaRPr lang="en-US" sz="1000" dirty="0">
              <a:latin typeface="Helvetica Neue"/>
              <a:cs typeface="Helvetica Neue"/>
            </a:endParaRPr>
          </a:p>
          <a:p>
            <a:pPr marL="228600" indent="-228600">
              <a:buAutoNum type="arabicPeriod"/>
              <a:defRPr/>
            </a:pPr>
            <a:endParaRPr lang="en-US" sz="1000" dirty="0">
              <a:latin typeface="Helvetica Neue"/>
              <a:cs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Rectangle 1"/>
          <p:cNvSpPr/>
          <p:nvPr/>
        </p:nvSpPr>
        <p:spPr bwMode="auto">
          <a:xfrm>
            <a:off x="457200" y="1054100"/>
            <a:ext cx="14630400" cy="8686800"/>
          </a:xfrm>
          <a:prstGeom prst="rect">
            <a:avLst/>
          </a:prstGeom>
          <a:solidFill>
            <a:schemeClr val="bg1"/>
          </a:solidFill>
          <a:ln w="76200" cap="flat" cmpd="sng" algn="ctr">
            <a:solidFill>
              <a:schemeClr val="tx1">
                <a:lumMod val="75000"/>
                <a:lumOff val="25000"/>
              </a:schemeClr>
            </a:solidFill>
            <a:prstDash val="solid"/>
            <a:round/>
            <a:headEnd type="none" w="med" len="med"/>
            <a:tailEnd type="none" w="med" len="med"/>
          </a:ln>
          <a:effectLst/>
        </p:spPr>
        <p:txBody>
          <a:bodyPr/>
          <a:lstStyle/>
          <a:p>
            <a:pPr defTabSz="1463675">
              <a:defRPr/>
            </a:pPr>
            <a:endParaRPr lang="en-US" dirty="0"/>
          </a:p>
        </p:txBody>
      </p:sp>
      <p:sp>
        <p:nvSpPr>
          <p:cNvPr id="26627" name="TextBox 2"/>
          <p:cNvSpPr txBox="1">
            <a:spLocks noChangeArrowheads="1"/>
          </p:cNvSpPr>
          <p:nvPr/>
        </p:nvSpPr>
        <p:spPr bwMode="auto">
          <a:xfrm>
            <a:off x="152400" y="228600"/>
            <a:ext cx="4800600" cy="646113"/>
          </a:xfrm>
          <a:prstGeom prst="rect">
            <a:avLst/>
          </a:prstGeom>
          <a:noFill/>
          <a:ln>
            <a:noFill/>
          </a:ln>
        </p:spPr>
        <p:txBody>
          <a:bodyPr>
            <a:spAutoFit/>
          </a:bodyPr>
          <a:lstStyle>
            <a:lvl1pPr eaLnBrk="0" hangingPunct="0">
              <a:defRPr sz="2900">
                <a:solidFill>
                  <a:schemeClr val="tx1"/>
                </a:solidFill>
                <a:latin typeface="Arial" panose="020B0604020202020204" pitchFamily="34" charset="0"/>
                <a:ea typeface="MS PGothic" charset="0"/>
                <a:cs typeface="MS PGothic" charset="0"/>
              </a:defRPr>
            </a:lvl1pPr>
            <a:lvl2pPr marL="742950" indent="-285750" eaLnBrk="0" hangingPunct="0">
              <a:defRPr sz="2900">
                <a:solidFill>
                  <a:schemeClr val="tx1"/>
                </a:solidFill>
                <a:latin typeface="Arial" panose="020B0604020202020204" pitchFamily="34" charset="0"/>
                <a:ea typeface="MS PGothic" charset="0"/>
              </a:defRPr>
            </a:lvl2pPr>
            <a:lvl3pPr marL="1143000" indent="-228600" eaLnBrk="0" hangingPunct="0">
              <a:defRPr sz="2900">
                <a:solidFill>
                  <a:schemeClr val="tx1"/>
                </a:solidFill>
                <a:latin typeface="Arial" panose="020B0604020202020204" pitchFamily="34" charset="0"/>
                <a:ea typeface="MS PGothic" charset="0"/>
              </a:defRPr>
            </a:lvl3pPr>
            <a:lvl4pPr marL="1600200" indent="-228600" eaLnBrk="0" hangingPunct="0">
              <a:defRPr sz="2900">
                <a:solidFill>
                  <a:schemeClr val="tx1"/>
                </a:solidFill>
                <a:latin typeface="Arial" panose="020B0604020202020204" pitchFamily="34" charset="0"/>
                <a:ea typeface="MS PGothic" charset="0"/>
              </a:defRPr>
            </a:lvl4pPr>
            <a:lvl5pPr marL="2057400" indent="-228600" eaLnBrk="0" hangingPunct="0">
              <a:defRPr sz="2900">
                <a:solidFill>
                  <a:schemeClr val="tx1"/>
                </a:solidFill>
                <a:latin typeface="Arial" panose="020B0604020202020204" pitchFamily="34" charset="0"/>
                <a:ea typeface="MS PGothic" charset="0"/>
              </a:defRPr>
            </a:lvl5pPr>
            <a:lvl6pPr marL="25146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6pPr>
            <a:lvl7pPr marL="29718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7pPr>
            <a:lvl8pPr marL="34290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8pPr>
            <a:lvl9pPr marL="3886200" indent="-228600" eaLnBrk="0" fontAlgn="base" hangingPunct="0">
              <a:spcBef>
                <a:spcPct val="0"/>
              </a:spcBef>
              <a:spcAft>
                <a:spcPct val="0"/>
              </a:spcAft>
              <a:defRPr sz="2900">
                <a:solidFill>
                  <a:schemeClr val="tx1"/>
                </a:solidFill>
                <a:latin typeface="Arial" panose="020B0604020202020204" pitchFamily="34" charset="0"/>
                <a:ea typeface="MS PGothic" charset="0"/>
              </a:defRPr>
            </a:lvl9pPr>
          </a:lstStyle>
          <a:p>
            <a:pPr eaLnBrk="1" hangingPunct="1"/>
            <a:r>
              <a:rPr lang="en-US" sz="3600" dirty="0">
                <a:latin typeface="Helvetica" charset="0"/>
                <a:cs typeface="Helvetica" charset="0"/>
              </a:rPr>
              <a:t>Lean UX Canvas (v2)</a:t>
            </a:r>
            <a:endParaRPr lang="en-US" sz="3600" dirty="0">
              <a:latin typeface="Helvetica" charset="0"/>
              <a:cs typeface="Helvetica" charset="0"/>
            </a:endParaRPr>
          </a:p>
        </p:txBody>
      </p:sp>
      <p:sp>
        <p:nvSpPr>
          <p:cNvPr id="4" name="Rectangle 3"/>
          <p:cNvSpPr/>
          <p:nvPr/>
        </p:nvSpPr>
        <p:spPr bwMode="auto">
          <a:xfrm>
            <a:off x="457200" y="3802856"/>
            <a:ext cx="5410200" cy="3207544"/>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Users</a:t>
            </a:r>
            <a:endParaRPr lang="en-US" sz="2000" b="1" dirty="0">
              <a:latin typeface="Helvetica Neue"/>
              <a:cs typeface="Helvetica Neue"/>
            </a:endParaRPr>
          </a:p>
          <a:p>
            <a:pPr>
              <a:defRPr/>
            </a:pPr>
            <a:r>
              <a:rPr lang="en-US" sz="1000" dirty="0">
                <a:latin typeface="Helvetica Neue"/>
                <a:cs typeface="Helvetica Neue"/>
              </a:rPr>
              <a:t>What types (i.e., personas) of users and customers should you focus on first?</a:t>
            </a:r>
            <a:endParaRPr lang="en-US" sz="1000" dirty="0">
              <a:latin typeface="Helvetica Neue"/>
              <a:cs typeface="Helvetica Neue"/>
            </a:endParaRPr>
          </a:p>
          <a:p>
            <a:pPr>
              <a:defRPr/>
            </a:pPr>
            <a:r>
              <a:rPr lang="en-US" sz="1000" i="1" dirty="0">
                <a:latin typeface="Helvetica Neue"/>
                <a:cs typeface="Helvetica Neue"/>
              </a:rPr>
              <a:t>(Hint: Who buys your product or service? Who uses it? Who configures it? </a:t>
            </a:r>
            <a:r>
              <a:rPr lang="en-US" sz="1000" i="1" dirty="0" err="1">
                <a:latin typeface="Helvetica Neue"/>
                <a:cs typeface="Helvetica Neue"/>
              </a:rPr>
              <a:t>Etc</a:t>
            </a:r>
            <a:r>
              <a:rPr lang="en-US" sz="1000" i="1" dirty="0">
                <a:latin typeface="Helvetica Neue"/>
                <a:cs typeface="Helvetica Neue"/>
              </a:rPr>
              <a:t>)</a:t>
            </a:r>
            <a:endParaRPr lang="en-US" sz="1000" i="1" dirty="0">
              <a:latin typeface="Helvetica Neue"/>
              <a:cs typeface="Helvetica Neue"/>
            </a:endParaRPr>
          </a:p>
        </p:txBody>
      </p:sp>
      <p:sp>
        <p:nvSpPr>
          <p:cNvPr id="6" name="Rectangle 5"/>
          <p:cNvSpPr/>
          <p:nvPr/>
        </p:nvSpPr>
        <p:spPr bwMode="auto">
          <a:xfrm>
            <a:off x="5867400" y="1052512"/>
            <a:ext cx="3809998" cy="5957888"/>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Solutions</a:t>
            </a:r>
            <a:endParaRPr lang="en-US" sz="2000" b="1" dirty="0">
              <a:latin typeface="Helvetica Neue"/>
              <a:cs typeface="Helvetica Neue"/>
            </a:endParaRPr>
          </a:p>
          <a:p>
            <a:pPr>
              <a:defRPr/>
            </a:pPr>
            <a:r>
              <a:rPr lang="en-US" sz="1000" dirty="0">
                <a:latin typeface="Helvetica Neue"/>
                <a:cs typeface="Helvetica Neue"/>
              </a:rPr>
              <a:t>What can we make that will solve our business problem and meet the needs of our customers at the same time? List product, feature, or enhancement ideas here. </a:t>
            </a:r>
            <a:endParaRPr lang="en-US" sz="1000" dirty="0">
              <a:latin typeface="Helvetica Neue"/>
              <a:cs typeface="Helvetica Neue"/>
            </a:endParaRPr>
          </a:p>
        </p:txBody>
      </p:sp>
      <p:sp>
        <p:nvSpPr>
          <p:cNvPr id="7" name="Rectangle 6"/>
          <p:cNvSpPr/>
          <p:nvPr/>
        </p:nvSpPr>
        <p:spPr bwMode="auto">
          <a:xfrm>
            <a:off x="9677400" y="3810000"/>
            <a:ext cx="5419724" cy="32004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 Outcomes &amp; Benefits</a:t>
            </a:r>
            <a:endParaRPr lang="en-US" sz="2000" b="1" dirty="0">
              <a:latin typeface="Helvetica Neue"/>
              <a:cs typeface="Helvetica Neue"/>
            </a:endParaRPr>
          </a:p>
          <a:p>
            <a:pPr>
              <a:defRPr/>
            </a:pPr>
            <a:r>
              <a:rPr lang="en-US" sz="1000" dirty="0">
                <a:latin typeface="Helvetica Neue"/>
                <a:cs typeface="Helvetica Neue"/>
              </a:rPr>
              <a:t>Why would your users seek out your product or service? What benefit would they gain from using it? What behavior change can we observe that tells us they've achieved their goal?</a:t>
            </a:r>
            <a:endParaRPr lang="en-US" sz="1000" dirty="0">
              <a:latin typeface="Helvetica Neue"/>
              <a:cs typeface="Helvetica Neue"/>
            </a:endParaRPr>
          </a:p>
          <a:p>
            <a:pPr>
              <a:defRPr/>
            </a:pPr>
            <a:r>
              <a:rPr lang="en-US" sz="1000" i="1" dirty="0">
                <a:latin typeface="Helvetica Neue"/>
                <a:cs typeface="Helvetica Neue"/>
              </a:rPr>
              <a:t>(Hint: Save money, get a promotion, spend more time with family)</a:t>
            </a:r>
            <a:endParaRPr lang="en-US" sz="1000" i="1" dirty="0">
              <a:latin typeface="Helvetica Neue"/>
              <a:cs typeface="Helvetica Neue"/>
            </a:endParaRPr>
          </a:p>
        </p:txBody>
      </p:sp>
      <p:sp>
        <p:nvSpPr>
          <p:cNvPr id="8" name="Rectangle 7"/>
          <p:cNvSpPr/>
          <p:nvPr/>
        </p:nvSpPr>
        <p:spPr bwMode="auto">
          <a:xfrm>
            <a:off x="486064" y="7017544"/>
            <a:ext cx="5381333" cy="2723356"/>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Hypotheses</a:t>
            </a:r>
            <a:endParaRPr lang="en-US" sz="2000" b="1" dirty="0">
              <a:latin typeface="Helvetica Neue"/>
              <a:cs typeface="Helvetica Neue"/>
            </a:endParaRPr>
          </a:p>
          <a:p>
            <a:pPr>
              <a:defRPr/>
            </a:pPr>
            <a:r>
              <a:rPr lang="en-US" sz="1000" dirty="0">
                <a:latin typeface="Helvetica Neue"/>
                <a:cs typeface="Helvetica Neue"/>
              </a:rPr>
              <a:t>Combine the assumptions from 2, 3, 4 &amp; 5 into the following hypothesis statement: </a:t>
            </a:r>
            <a:br>
              <a:rPr lang="en-US" sz="1000" dirty="0">
                <a:latin typeface="Helvetica Neue"/>
                <a:cs typeface="Helvetica Neue"/>
              </a:rPr>
            </a:br>
            <a:r>
              <a:rPr lang="en-US" sz="1000" i="1" dirty="0">
                <a:latin typeface="Helvetica Neue"/>
                <a:cs typeface="Helvetica Neue"/>
              </a:rPr>
              <a:t>“We believe that [business outcome] will be achieved if [user] attains [benefit] with [feature].”</a:t>
            </a:r>
            <a:endParaRPr lang="en-US" sz="1000" i="1" dirty="0">
              <a:latin typeface="Helvetica Neue"/>
              <a:cs typeface="Helvetica Neue"/>
            </a:endParaRPr>
          </a:p>
          <a:p>
            <a:pPr>
              <a:defRPr/>
            </a:pPr>
            <a:r>
              <a:rPr lang="en-US" sz="1000" i="1" dirty="0">
                <a:latin typeface="Helvetica Neue"/>
                <a:cs typeface="Helvetica Neue"/>
              </a:rPr>
              <a:t>(Hint: Each hypothesis should focus on one feature only.)</a:t>
            </a:r>
            <a:endParaRPr lang="en-US" sz="1000" i="1" dirty="0">
              <a:latin typeface="Helvetica Neue"/>
              <a:cs typeface="Helvetica Neue"/>
            </a:endParaRPr>
          </a:p>
        </p:txBody>
      </p:sp>
      <p:sp>
        <p:nvSpPr>
          <p:cNvPr id="9" name="Rectangle 8"/>
          <p:cNvSpPr/>
          <p:nvPr/>
        </p:nvSpPr>
        <p:spPr bwMode="auto">
          <a:xfrm>
            <a:off x="9677399" y="7010400"/>
            <a:ext cx="5419726" cy="27305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least amount of work we need to do to learn the next most important thing?</a:t>
            </a:r>
            <a:endParaRPr lang="en-US" sz="2000" b="1" dirty="0">
              <a:latin typeface="Helvetica Neue"/>
              <a:cs typeface="Helvetica Neue"/>
            </a:endParaRPr>
          </a:p>
          <a:p>
            <a:pPr>
              <a:defRPr/>
            </a:pPr>
            <a:r>
              <a:rPr lang="en-US" sz="1000" dirty="0">
                <a:latin typeface="Helvetica Neue"/>
                <a:cs typeface="Helvetica Neue"/>
              </a:rPr>
              <a:t>Design experiments to learn as fast as you can whether your riskiest assumption is true or false. </a:t>
            </a:r>
            <a:endParaRPr lang="en-US" sz="1000" b="1" dirty="0">
              <a:solidFill>
                <a:schemeClr val="bg1">
                  <a:lumMod val="50000"/>
                </a:schemeClr>
              </a:solidFill>
              <a:latin typeface="Helvetica Neue"/>
              <a:cs typeface="Helvetica Neue"/>
            </a:endParaRPr>
          </a:p>
        </p:txBody>
      </p:sp>
      <p:sp>
        <p:nvSpPr>
          <p:cNvPr id="12" name="Rectangle 11"/>
          <p:cNvSpPr/>
          <p:nvPr/>
        </p:nvSpPr>
        <p:spPr bwMode="auto">
          <a:xfrm>
            <a:off x="457201" y="1059656"/>
            <a:ext cx="5410200" cy="27432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Problem</a:t>
            </a:r>
            <a:endParaRPr lang="en-US" sz="2000" b="1" dirty="0">
              <a:latin typeface="Helvetica Neue"/>
              <a:cs typeface="Helvetica Neue"/>
            </a:endParaRPr>
          </a:p>
          <a:p>
            <a:pPr>
              <a:defRPr/>
            </a:pPr>
            <a:r>
              <a:rPr lang="en-US" sz="1000" dirty="0">
                <a:latin typeface="Helvetica Neue"/>
                <a:cs typeface="Helvetica Neue"/>
              </a:rPr>
              <a:t>What problem does the business have that you are trying to solve? </a:t>
            </a:r>
            <a:br>
              <a:rPr lang="en-US" sz="1000" dirty="0">
                <a:latin typeface="Helvetica Neue"/>
                <a:cs typeface="Helvetica Neue"/>
              </a:rPr>
            </a:br>
            <a:r>
              <a:rPr lang="en-US" sz="1000" i="1" dirty="0">
                <a:latin typeface="Helvetica Neue"/>
                <a:cs typeface="Helvetica Neue"/>
              </a:rPr>
              <a:t>(Hint: Consider your current offerings and how they delver value, changes in the market, delivery channels, competitive threats and customer behavior.)</a:t>
            </a:r>
            <a:endParaRPr lang="en-US" sz="1000" i="1" dirty="0">
              <a:latin typeface="Helvetica Neue"/>
              <a:cs typeface="Helvetica Neue"/>
            </a:endParaRPr>
          </a:p>
        </p:txBody>
      </p:sp>
      <p:sp>
        <p:nvSpPr>
          <p:cNvPr id="14" name="Rectangle 13"/>
          <p:cNvSpPr/>
          <p:nvPr/>
        </p:nvSpPr>
        <p:spPr bwMode="auto">
          <a:xfrm>
            <a:off x="9677400" y="1066800"/>
            <a:ext cx="5419725" cy="27432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Outcomes </a:t>
            </a:r>
            <a:br>
              <a:rPr lang="en-US" sz="2000" b="1" dirty="0">
                <a:latin typeface="Helvetica Neue"/>
                <a:cs typeface="Helvetica Neue"/>
              </a:rPr>
            </a:br>
            <a:r>
              <a:rPr lang="en-US" sz="1000" dirty="0">
                <a:latin typeface="Helvetica Neue"/>
                <a:cs typeface="Helvetica Neue"/>
              </a:rPr>
              <a:t>How will you know you solved the business problem? What will you measure? </a:t>
            </a:r>
            <a:endParaRPr lang="en-US" sz="1000" dirty="0">
              <a:latin typeface="Helvetica Neue"/>
              <a:cs typeface="Helvetica Neue"/>
            </a:endParaRPr>
          </a:p>
          <a:p>
            <a:pPr>
              <a:defRPr/>
            </a:pPr>
            <a:r>
              <a:rPr lang="en-US" sz="1000" i="1" dirty="0">
                <a:latin typeface="Helvetica Neue"/>
                <a:cs typeface="Helvetica Neue"/>
              </a:rPr>
              <a:t>(Hint: </a:t>
            </a:r>
            <a:r>
              <a:rPr lang="en-US" sz="1000" dirty="0">
                <a:latin typeface="Helvetica Neue"/>
                <a:cs typeface="Helvetica Neue"/>
              </a:rPr>
              <a:t>What will people/users be doing differently if your solutions work? </a:t>
            </a:r>
            <a:r>
              <a:rPr lang="en-US" sz="1000" i="1" dirty="0">
                <a:latin typeface="Helvetica Neue"/>
                <a:cs typeface="Helvetica Neue"/>
              </a:rPr>
              <a:t>Consider metrics that indicate customer success like average order value, time on site, and retention rate.) </a:t>
            </a:r>
            <a:endParaRPr lang="en-US" sz="1000" i="1" dirty="0">
              <a:latin typeface="Helvetica Neue"/>
              <a:cs typeface="Helvetica Neue"/>
            </a:endParaRPr>
          </a:p>
        </p:txBody>
      </p:sp>
      <p:sp>
        <p:nvSpPr>
          <p:cNvPr id="26637" name="Rectangle 15"/>
          <p:cNvSpPr>
            <a:spLocks noChangeArrowheads="1"/>
          </p:cNvSpPr>
          <p:nvPr/>
        </p:nvSpPr>
        <p:spPr bwMode="auto">
          <a:xfrm>
            <a:off x="4800600" y="325438"/>
            <a:ext cx="7772400" cy="547687"/>
          </a:xfrm>
          <a:prstGeom prst="rect">
            <a:avLst/>
          </a:prstGeom>
          <a:solidFill>
            <a:schemeClr val="bg1"/>
          </a:solidFill>
          <a:ln>
            <a:noFill/>
          </a:ln>
        </p:spPr>
        <p:txBody>
          <a:bodyPr/>
          <a:lstStyle/>
          <a:p>
            <a:pPr defTabSz="1463675"/>
            <a:r>
              <a:rPr lang="en-US" sz="1000" dirty="0">
                <a:latin typeface="Helvetica Neue" charset="0"/>
                <a:cs typeface="Helvetica Neue" charset="0"/>
              </a:rPr>
              <a:t>Title of initiative:</a:t>
            </a:r>
            <a:endParaRPr lang="en-US" sz="1000" dirty="0">
              <a:latin typeface="Helvetica Neue" charset="0"/>
              <a:cs typeface="Helvetica Neue" charset="0"/>
            </a:endParaRPr>
          </a:p>
        </p:txBody>
      </p:sp>
      <p:sp>
        <p:nvSpPr>
          <p:cNvPr id="26638" name="Rectangle 17"/>
          <p:cNvSpPr>
            <a:spLocks noChangeArrowheads="1"/>
          </p:cNvSpPr>
          <p:nvPr/>
        </p:nvSpPr>
        <p:spPr bwMode="auto">
          <a:xfrm>
            <a:off x="12801600" y="352425"/>
            <a:ext cx="2286000" cy="228600"/>
          </a:xfrm>
          <a:prstGeom prst="rect">
            <a:avLst/>
          </a:prstGeom>
          <a:solidFill>
            <a:schemeClr val="bg1"/>
          </a:solidFill>
          <a:ln>
            <a:noFill/>
          </a:ln>
        </p:spPr>
        <p:txBody>
          <a:bodyPr/>
          <a:lstStyle/>
          <a:p>
            <a:pPr defTabSz="1463675"/>
            <a:r>
              <a:rPr lang="en-US" sz="1000">
                <a:latin typeface="Helvetica Neue" charset="0"/>
                <a:cs typeface="Helvetica Neue" charset="0"/>
              </a:rPr>
              <a:t>Date:</a:t>
            </a:r>
            <a:endParaRPr lang="en-US" sz="1000">
              <a:latin typeface="Helvetica Neue" charset="0"/>
              <a:cs typeface="Helvetica Neue" charset="0"/>
            </a:endParaRPr>
          </a:p>
        </p:txBody>
      </p:sp>
      <p:sp>
        <p:nvSpPr>
          <p:cNvPr id="26639" name="Rectangle 18"/>
          <p:cNvSpPr>
            <a:spLocks noChangeArrowheads="1"/>
          </p:cNvSpPr>
          <p:nvPr/>
        </p:nvSpPr>
        <p:spPr bwMode="auto">
          <a:xfrm>
            <a:off x="12801600" y="644525"/>
            <a:ext cx="2286000" cy="228600"/>
          </a:xfrm>
          <a:prstGeom prst="rect">
            <a:avLst/>
          </a:prstGeom>
          <a:solidFill>
            <a:schemeClr val="bg1"/>
          </a:solidFill>
          <a:ln>
            <a:noFill/>
          </a:ln>
        </p:spPr>
        <p:txBody>
          <a:bodyPr/>
          <a:lstStyle/>
          <a:p>
            <a:pPr defTabSz="1463675"/>
            <a:r>
              <a:rPr lang="en-US" sz="1000">
                <a:latin typeface="Helvetica Neue" charset="0"/>
                <a:cs typeface="Helvetica Neue" charset="0"/>
              </a:rPr>
              <a:t>Iteration:</a:t>
            </a:r>
            <a:endParaRPr lang="en-US" sz="1000">
              <a:latin typeface="Helvetica Neue" charset="0"/>
              <a:cs typeface="Helvetica Neue" charset="0"/>
            </a:endParaRPr>
          </a:p>
        </p:txBody>
      </p:sp>
      <p:sp>
        <p:nvSpPr>
          <p:cNvPr id="20" name="TextBox 19"/>
          <p:cNvSpPr txBox="1"/>
          <p:nvPr/>
        </p:nvSpPr>
        <p:spPr>
          <a:xfrm>
            <a:off x="7200900" y="2976563"/>
            <a:ext cx="1143000" cy="2124075"/>
          </a:xfrm>
          <a:prstGeom prst="rect">
            <a:avLst/>
          </a:prstGeom>
          <a:noFill/>
        </p:spPr>
        <p:txBody>
          <a:bodyPr>
            <a:spAutoFit/>
          </a:bodyPr>
          <a:lstStyle/>
          <a:p>
            <a:pPr>
              <a:defRPr/>
            </a:pPr>
            <a:r>
              <a:rPr lang="en-US" sz="13200" dirty="0">
                <a:solidFill>
                  <a:schemeClr val="bg1">
                    <a:lumMod val="85000"/>
                  </a:schemeClr>
                </a:solidFill>
                <a:latin typeface="Helvetica Neue"/>
                <a:cs typeface="Helvetica Neue"/>
              </a:rPr>
              <a:t>5</a:t>
            </a:r>
            <a:endParaRPr lang="en-US" sz="13200" dirty="0">
              <a:solidFill>
                <a:schemeClr val="bg1">
                  <a:lumMod val="85000"/>
                </a:schemeClr>
              </a:solidFill>
              <a:latin typeface="Helvetica Neue"/>
              <a:cs typeface="Helvetica Neue"/>
            </a:endParaRPr>
          </a:p>
        </p:txBody>
      </p:sp>
      <p:sp>
        <p:nvSpPr>
          <p:cNvPr id="22" name="TextBox 21"/>
          <p:cNvSpPr txBox="1"/>
          <p:nvPr/>
        </p:nvSpPr>
        <p:spPr>
          <a:xfrm>
            <a:off x="2811463" y="4429125"/>
            <a:ext cx="1143000" cy="2124075"/>
          </a:xfrm>
          <a:prstGeom prst="rect">
            <a:avLst/>
          </a:prstGeom>
          <a:noFill/>
        </p:spPr>
        <p:txBody>
          <a:bodyPr>
            <a:spAutoFit/>
          </a:bodyPr>
          <a:lstStyle/>
          <a:p>
            <a:pPr>
              <a:defRPr/>
            </a:pPr>
            <a:r>
              <a:rPr lang="en-US" sz="13200" dirty="0">
                <a:solidFill>
                  <a:schemeClr val="bg1">
                    <a:lumMod val="85000"/>
                  </a:schemeClr>
                </a:solidFill>
                <a:latin typeface="Helvetica Neue"/>
                <a:cs typeface="Helvetica Neue"/>
              </a:rPr>
              <a:t>3</a:t>
            </a:r>
            <a:endParaRPr lang="en-US" sz="13200" dirty="0">
              <a:solidFill>
                <a:schemeClr val="bg1">
                  <a:lumMod val="85000"/>
                </a:schemeClr>
              </a:solidFill>
              <a:latin typeface="Helvetica Neue"/>
              <a:cs typeface="Helvetica Neue"/>
            </a:endParaRPr>
          </a:p>
        </p:txBody>
      </p:sp>
      <p:sp>
        <p:nvSpPr>
          <p:cNvPr id="23" name="TextBox 22"/>
          <p:cNvSpPr txBox="1"/>
          <p:nvPr/>
        </p:nvSpPr>
        <p:spPr>
          <a:xfrm>
            <a:off x="11582400" y="7663512"/>
            <a:ext cx="1087347" cy="2124075"/>
          </a:xfrm>
          <a:prstGeom prst="rect">
            <a:avLst/>
          </a:prstGeom>
          <a:noFill/>
        </p:spPr>
        <p:txBody>
          <a:bodyPr wrap="square">
            <a:spAutoFit/>
          </a:bodyPr>
          <a:lstStyle/>
          <a:p>
            <a:pPr>
              <a:defRPr/>
            </a:pPr>
            <a:r>
              <a:rPr lang="en-US" sz="13200" dirty="0">
                <a:solidFill>
                  <a:schemeClr val="bg1">
                    <a:lumMod val="85000"/>
                  </a:schemeClr>
                </a:solidFill>
                <a:latin typeface="Helvetica Neue"/>
                <a:cs typeface="Helvetica Neue"/>
              </a:rPr>
              <a:t>8</a:t>
            </a:r>
            <a:endParaRPr lang="en-US" sz="13200" dirty="0">
              <a:solidFill>
                <a:schemeClr val="bg1">
                  <a:lumMod val="85000"/>
                </a:schemeClr>
              </a:solidFill>
              <a:latin typeface="Helvetica Neue"/>
              <a:cs typeface="Helvetica Neue"/>
            </a:endParaRPr>
          </a:p>
        </p:txBody>
      </p:sp>
      <p:sp>
        <p:nvSpPr>
          <p:cNvPr id="24" name="TextBox 23"/>
          <p:cNvSpPr txBox="1"/>
          <p:nvPr/>
        </p:nvSpPr>
        <p:spPr>
          <a:xfrm>
            <a:off x="2743200" y="1704994"/>
            <a:ext cx="1143000" cy="2124075"/>
          </a:xfrm>
          <a:prstGeom prst="rect">
            <a:avLst/>
          </a:prstGeom>
          <a:noFill/>
        </p:spPr>
        <p:txBody>
          <a:bodyPr>
            <a:spAutoFit/>
          </a:bodyPr>
          <a:lstStyle/>
          <a:p>
            <a:pPr>
              <a:defRPr/>
            </a:pPr>
            <a:r>
              <a:rPr lang="en-US" sz="13200" dirty="0">
                <a:solidFill>
                  <a:schemeClr val="bg1">
                    <a:lumMod val="85000"/>
                  </a:schemeClr>
                </a:solidFill>
                <a:latin typeface="Helvetica Neue"/>
                <a:cs typeface="Helvetica Neue"/>
              </a:rPr>
              <a:t>1</a:t>
            </a:r>
            <a:endParaRPr lang="en-US" sz="13200" dirty="0">
              <a:solidFill>
                <a:schemeClr val="bg1">
                  <a:lumMod val="85000"/>
                </a:schemeClr>
              </a:solidFill>
              <a:latin typeface="Helvetica Neue"/>
              <a:cs typeface="Helvetica Neue"/>
            </a:endParaRPr>
          </a:p>
        </p:txBody>
      </p:sp>
      <p:sp>
        <p:nvSpPr>
          <p:cNvPr id="25" name="TextBox 24"/>
          <p:cNvSpPr txBox="1"/>
          <p:nvPr/>
        </p:nvSpPr>
        <p:spPr>
          <a:xfrm>
            <a:off x="2811463" y="7663512"/>
            <a:ext cx="1143000" cy="2124075"/>
          </a:xfrm>
          <a:prstGeom prst="rect">
            <a:avLst/>
          </a:prstGeom>
          <a:noFill/>
        </p:spPr>
        <p:txBody>
          <a:bodyPr>
            <a:spAutoFit/>
          </a:bodyPr>
          <a:lstStyle/>
          <a:p>
            <a:pPr>
              <a:defRPr/>
            </a:pPr>
            <a:r>
              <a:rPr lang="en-US" sz="13200" dirty="0">
                <a:solidFill>
                  <a:schemeClr val="bg1">
                    <a:lumMod val="85000"/>
                  </a:schemeClr>
                </a:solidFill>
                <a:latin typeface="Helvetica Neue"/>
                <a:cs typeface="Helvetica Neue"/>
              </a:rPr>
              <a:t>6</a:t>
            </a:r>
            <a:endParaRPr lang="en-US" sz="13200" dirty="0">
              <a:solidFill>
                <a:schemeClr val="bg1">
                  <a:lumMod val="85000"/>
                </a:schemeClr>
              </a:solidFill>
              <a:latin typeface="Helvetica Neue"/>
              <a:cs typeface="Helvetica Neue"/>
            </a:endParaRPr>
          </a:p>
        </p:txBody>
      </p:sp>
      <p:sp>
        <p:nvSpPr>
          <p:cNvPr id="26" name="TextBox 25"/>
          <p:cNvSpPr txBox="1"/>
          <p:nvPr/>
        </p:nvSpPr>
        <p:spPr>
          <a:xfrm>
            <a:off x="11590335" y="4476218"/>
            <a:ext cx="1143000" cy="2124075"/>
          </a:xfrm>
          <a:prstGeom prst="rect">
            <a:avLst/>
          </a:prstGeom>
          <a:noFill/>
        </p:spPr>
        <p:txBody>
          <a:bodyPr>
            <a:spAutoFit/>
          </a:bodyPr>
          <a:lstStyle/>
          <a:p>
            <a:pPr>
              <a:defRPr/>
            </a:pPr>
            <a:r>
              <a:rPr lang="en-US" sz="13200" dirty="0">
                <a:solidFill>
                  <a:schemeClr val="bg1">
                    <a:lumMod val="85000"/>
                  </a:schemeClr>
                </a:solidFill>
                <a:latin typeface="Helvetica Neue"/>
                <a:cs typeface="Helvetica Neue"/>
              </a:rPr>
              <a:t>4</a:t>
            </a:r>
            <a:endParaRPr lang="en-US" sz="13200" dirty="0">
              <a:solidFill>
                <a:schemeClr val="bg1">
                  <a:lumMod val="85000"/>
                </a:schemeClr>
              </a:solidFill>
              <a:latin typeface="Helvetica Neue"/>
              <a:cs typeface="Helvetica Neue"/>
            </a:endParaRPr>
          </a:p>
        </p:txBody>
      </p:sp>
      <p:sp>
        <p:nvSpPr>
          <p:cNvPr id="27" name="TextBox 26"/>
          <p:cNvSpPr txBox="1"/>
          <p:nvPr/>
        </p:nvSpPr>
        <p:spPr>
          <a:xfrm>
            <a:off x="7162800" y="7663512"/>
            <a:ext cx="1143000" cy="2124075"/>
          </a:xfrm>
          <a:prstGeom prst="rect">
            <a:avLst/>
          </a:prstGeom>
          <a:noFill/>
        </p:spPr>
        <p:txBody>
          <a:bodyPr>
            <a:spAutoFit/>
          </a:bodyPr>
          <a:lstStyle/>
          <a:p>
            <a:pPr>
              <a:defRPr/>
            </a:pPr>
            <a:r>
              <a:rPr lang="en-US" sz="13200" dirty="0">
                <a:solidFill>
                  <a:schemeClr val="bg1">
                    <a:lumMod val="85000"/>
                  </a:schemeClr>
                </a:solidFill>
                <a:latin typeface="Helvetica Neue"/>
                <a:cs typeface="Helvetica Neue"/>
              </a:rPr>
              <a:t>7</a:t>
            </a:r>
            <a:endParaRPr lang="en-US" sz="13200" dirty="0">
              <a:solidFill>
                <a:schemeClr val="bg1">
                  <a:lumMod val="85000"/>
                </a:schemeClr>
              </a:solidFill>
              <a:latin typeface="Helvetica Neue"/>
              <a:cs typeface="Helvetica Neue"/>
            </a:endParaRPr>
          </a:p>
        </p:txBody>
      </p:sp>
      <p:sp>
        <p:nvSpPr>
          <p:cNvPr id="28" name="TextBox 27"/>
          <p:cNvSpPr txBox="1"/>
          <p:nvPr/>
        </p:nvSpPr>
        <p:spPr>
          <a:xfrm>
            <a:off x="11658599" y="1699031"/>
            <a:ext cx="1143000" cy="2124075"/>
          </a:xfrm>
          <a:prstGeom prst="rect">
            <a:avLst/>
          </a:prstGeom>
          <a:noFill/>
        </p:spPr>
        <p:txBody>
          <a:bodyPr>
            <a:spAutoFit/>
          </a:bodyPr>
          <a:lstStyle/>
          <a:p>
            <a:pPr>
              <a:defRPr/>
            </a:pPr>
            <a:r>
              <a:rPr lang="en-US" sz="13200" dirty="0">
                <a:solidFill>
                  <a:schemeClr val="bg1">
                    <a:lumMod val="85000"/>
                  </a:schemeClr>
                </a:solidFill>
                <a:latin typeface="Helvetica Neue"/>
                <a:cs typeface="Helvetica Neue"/>
              </a:rPr>
              <a:t>2</a:t>
            </a:r>
            <a:endParaRPr lang="en-US" sz="13200" dirty="0">
              <a:solidFill>
                <a:schemeClr val="bg1">
                  <a:lumMod val="85000"/>
                </a:schemeClr>
              </a:solidFill>
              <a:latin typeface="Helvetica Neue"/>
              <a:cs typeface="Helvetica Neue"/>
            </a:endParaRPr>
          </a:p>
        </p:txBody>
      </p:sp>
      <p:sp>
        <p:nvSpPr>
          <p:cNvPr id="13" name="TextBox 12"/>
          <p:cNvSpPr txBox="1"/>
          <p:nvPr/>
        </p:nvSpPr>
        <p:spPr>
          <a:xfrm>
            <a:off x="1432216" y="9672935"/>
            <a:ext cx="13664910" cy="461665"/>
          </a:xfrm>
          <a:prstGeom prst="rect">
            <a:avLst/>
          </a:prstGeom>
          <a:noFill/>
        </p:spPr>
        <p:txBody>
          <a:bodyPr wrap="square" rtlCol="0">
            <a:spAutoFit/>
          </a:bodyPr>
          <a:lstStyle/>
          <a:p>
            <a:r>
              <a:rPr lang="en-US" sz="1600" dirty="0">
                <a:latin typeface="Helvetica Neue" charset="0"/>
                <a:ea typeface="Helvetica Neue" charset="0"/>
                <a:cs typeface="Helvetica Neue" charset="0"/>
              </a:rPr>
              <a:t>Download this canvas at: </a:t>
            </a:r>
            <a:r>
              <a:rPr lang="en-US" sz="1600" b="1" u="sng" dirty="0">
                <a:latin typeface="Helvetica Neue" charset="0"/>
                <a:ea typeface="Helvetica Neue" charset="0"/>
                <a:cs typeface="Helvetica Neue" charset="0"/>
              </a:rPr>
              <a:t>www.jeffgothelf.com/blog/leanuxcanvas-v2</a:t>
            </a:r>
            <a:r>
              <a:rPr lang="en-US" sz="1600" dirty="0">
                <a:latin typeface="Helvetica Neue" charset="0"/>
                <a:ea typeface="Helvetica Neue" charset="0"/>
                <a:cs typeface="Helvetica Neue" charset="0"/>
              </a:rPr>
              <a:t>  </a:t>
            </a:r>
            <a:r>
              <a:rPr lang="en-US" sz="2400" dirty="0">
                <a:solidFill>
                  <a:srgbClr val="FF0000"/>
                </a:solidFill>
                <a:latin typeface="Helvetica Neue" charset="0"/>
                <a:ea typeface="Helvetica Neue" charset="0"/>
                <a:cs typeface="Helvetica Neue" charset="0"/>
              </a:rPr>
              <a:t>	</a:t>
            </a:r>
            <a:endParaRPr lang="en-US" sz="2400" dirty="0">
              <a:solidFill>
                <a:srgbClr val="FF0000"/>
              </a:solidFill>
              <a:latin typeface="Helvetica Neue" charset="0"/>
              <a:ea typeface="Helvetica Neue" charset="0"/>
              <a:cs typeface="Helvetica Neue" charset="0"/>
            </a:endParaRPr>
          </a:p>
        </p:txBody>
      </p:sp>
      <p:pic>
        <p:nvPicPr>
          <p:cNvPr id="15" name="Picture 14"/>
          <p:cNvPicPr>
            <a:picLocks noChangeAspect="1"/>
          </p:cNvPicPr>
          <p:nvPr/>
        </p:nvPicPr>
        <p:blipFill>
          <a:blip r:embed="rId1"/>
          <a:stretch>
            <a:fillRect/>
          </a:stretch>
        </p:blipFill>
        <p:spPr>
          <a:xfrm>
            <a:off x="406690" y="9834274"/>
            <a:ext cx="1016000" cy="190500"/>
          </a:xfrm>
          <a:prstGeom prst="rect">
            <a:avLst/>
          </a:prstGeom>
        </p:spPr>
      </p:pic>
      <p:sp>
        <p:nvSpPr>
          <p:cNvPr id="10" name="Rectangle 9"/>
          <p:cNvSpPr/>
          <p:nvPr/>
        </p:nvSpPr>
        <p:spPr bwMode="auto">
          <a:xfrm>
            <a:off x="5867399" y="7010400"/>
            <a:ext cx="3809999" cy="27305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most important thing we need to learn first?</a:t>
            </a:r>
            <a:endParaRPr lang="en-US" sz="2000" b="1" dirty="0">
              <a:latin typeface="Helvetica Neue"/>
              <a:cs typeface="Helvetica Neue"/>
            </a:endParaRPr>
          </a:p>
          <a:p>
            <a:pPr>
              <a:defRPr/>
            </a:pPr>
            <a:r>
              <a:rPr lang="en-US" sz="1000" dirty="0">
                <a:latin typeface="Helvetica Neue"/>
                <a:cs typeface="Helvetica Neue"/>
              </a:rPr>
              <a:t>For each hypothesis from Box 6, identify its riskiest assumptions. Then determine the riskiest one right now. This is the assumption that will cause the entire idea to fail if it’s wrong. </a:t>
            </a:r>
            <a:endParaRPr lang="en-US" sz="1000" dirty="0">
              <a:latin typeface="Helvetica Neue"/>
              <a:cs typeface="Helvetica Neue"/>
            </a:endParaRPr>
          </a:p>
          <a:p>
            <a:pPr>
              <a:defRPr/>
            </a:pPr>
            <a:endParaRPr lang="en-US" sz="1000" dirty="0">
              <a:latin typeface="Helvetica Neue"/>
              <a:cs typeface="Helvetica Neue"/>
            </a:endParaRPr>
          </a:p>
          <a:p>
            <a:pPr>
              <a:defRPr/>
            </a:pPr>
            <a:r>
              <a:rPr lang="en-US" sz="1000" i="1" dirty="0">
                <a:latin typeface="Helvetica Neue"/>
                <a:cs typeface="Helvetica Neue"/>
              </a:rPr>
              <a:t>(Hint: In the early stages of a hypothesis focus on risks to value rather than feasibility.) </a:t>
            </a:r>
            <a:endParaRPr lang="en-US" sz="1000" i="1" dirty="0">
              <a:latin typeface="Helvetica Neue"/>
              <a:cs typeface="Helvetica Neue"/>
            </a:endParaRPr>
          </a:p>
        </p:txBody>
      </p:sp>
      <p:sp>
        <p:nvSpPr>
          <p:cNvPr id="29" name="Rectangle 28"/>
          <p:cNvSpPr/>
          <p:nvPr/>
        </p:nvSpPr>
        <p:spPr bwMode="auto">
          <a:xfrm>
            <a:off x="486064" y="1066800"/>
            <a:ext cx="5371811" cy="5917387"/>
          </a:xfrm>
          <a:prstGeom prst="rect">
            <a:avLst/>
          </a:prstGeom>
          <a:solidFill>
            <a:srgbClr val="FF0000">
              <a:alpha val="19000"/>
            </a:srgbClr>
          </a:solidFill>
          <a:ln w="3175" cap="flat" cmpd="sng" algn="ctr">
            <a:solidFill>
              <a:srgbClr val="80808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463675" rtl="0" eaLnBrk="1" fontAlgn="base" latinLnBrk="0" hangingPunct="1">
              <a:lnSpc>
                <a:spcPct val="100000"/>
              </a:lnSpc>
              <a:spcBef>
                <a:spcPct val="0"/>
              </a:spcBef>
              <a:spcAft>
                <a:spcPct val="0"/>
              </a:spcAft>
              <a:buClrTx/>
              <a:buSzTx/>
              <a:buFontTx/>
              <a:buNone/>
            </a:pPr>
            <a:endParaRPr kumimoji="0" lang="es-ES" sz="2900" b="0" i="0" u="none" strike="noStrike" cap="none" normalizeH="0" baseline="0" dirty="0">
              <a:ln>
                <a:noFill/>
              </a:ln>
              <a:solidFill>
                <a:schemeClr val="tx1"/>
              </a:solidFill>
              <a:effectLst/>
              <a:latin typeface="Arial" panose="020B0604020202020204" pitchFamily="34" charset="0"/>
            </a:endParaRPr>
          </a:p>
        </p:txBody>
      </p:sp>
      <p:sp>
        <p:nvSpPr>
          <p:cNvPr id="30" name="Rectangle 29"/>
          <p:cNvSpPr/>
          <p:nvPr/>
        </p:nvSpPr>
        <p:spPr bwMode="auto">
          <a:xfrm>
            <a:off x="9677398" y="1066800"/>
            <a:ext cx="5371811" cy="5917387"/>
          </a:xfrm>
          <a:prstGeom prst="rect">
            <a:avLst/>
          </a:prstGeom>
          <a:solidFill>
            <a:srgbClr val="FF0000">
              <a:alpha val="19000"/>
            </a:srgbClr>
          </a:solidFill>
          <a:ln w="3175" cap="flat" cmpd="sng" algn="ctr">
            <a:solidFill>
              <a:srgbClr val="80808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463675" rtl="0" eaLnBrk="1" fontAlgn="base" latinLnBrk="0" hangingPunct="1">
              <a:lnSpc>
                <a:spcPct val="100000"/>
              </a:lnSpc>
              <a:spcBef>
                <a:spcPct val="0"/>
              </a:spcBef>
              <a:spcAft>
                <a:spcPct val="0"/>
              </a:spcAft>
              <a:buClrTx/>
              <a:buSzTx/>
              <a:buFontTx/>
              <a:buNone/>
            </a:pPr>
            <a:endParaRPr kumimoji="0" lang="es-ES" sz="2900" b="0" i="0" u="none" strike="noStrike" cap="none" normalizeH="0" baseline="0" dirty="0">
              <a:ln>
                <a:noFill/>
              </a:ln>
              <a:solidFill>
                <a:schemeClr val="tx1"/>
              </a:solidFill>
              <a:effectLst/>
              <a:latin typeface="Arial" panose="020B0604020202020204" pitchFamily="34" charset="0"/>
            </a:endParaRPr>
          </a:p>
        </p:txBody>
      </p:sp>
      <p:sp>
        <p:nvSpPr>
          <p:cNvPr id="31" name="Rectangle 30"/>
          <p:cNvSpPr/>
          <p:nvPr/>
        </p:nvSpPr>
        <p:spPr bwMode="auto">
          <a:xfrm>
            <a:off x="5886738" y="1083112"/>
            <a:ext cx="3752269" cy="5917387"/>
          </a:xfrm>
          <a:prstGeom prst="rect">
            <a:avLst/>
          </a:prstGeom>
          <a:solidFill>
            <a:srgbClr val="00B0F0">
              <a:alpha val="20000"/>
            </a:srgbClr>
          </a:solidFill>
          <a:ln w="3175" cap="flat" cmpd="sng" algn="ctr">
            <a:solidFill>
              <a:srgbClr val="80808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463675" rtl="0" eaLnBrk="1" fontAlgn="base" latinLnBrk="0" hangingPunct="1">
              <a:lnSpc>
                <a:spcPct val="100000"/>
              </a:lnSpc>
              <a:spcBef>
                <a:spcPct val="0"/>
              </a:spcBef>
              <a:spcAft>
                <a:spcPct val="0"/>
              </a:spcAft>
              <a:buClrTx/>
              <a:buSzTx/>
              <a:buFontTx/>
              <a:buNone/>
            </a:pPr>
            <a:endParaRPr kumimoji="0" lang="es-ES" sz="2900" b="0" i="0" u="none" strike="noStrike" cap="none" normalizeH="0" baseline="0" dirty="0">
              <a:ln>
                <a:noFill/>
              </a:ln>
              <a:solidFill>
                <a:schemeClr val="tx1"/>
              </a:solidFill>
              <a:effectLst/>
              <a:latin typeface="Arial" panose="020B0604020202020204" pitchFamily="34" charset="0"/>
            </a:endParaRPr>
          </a:p>
        </p:txBody>
      </p:sp>
      <p:sp>
        <p:nvSpPr>
          <p:cNvPr id="32" name="Right Arrow 31"/>
          <p:cNvSpPr/>
          <p:nvPr/>
        </p:nvSpPr>
        <p:spPr bwMode="auto">
          <a:xfrm>
            <a:off x="4783818" y="3030975"/>
            <a:ext cx="5958107" cy="1500544"/>
          </a:xfrm>
          <a:prstGeom prst="rightArrow">
            <a:avLst/>
          </a:prstGeom>
          <a:solidFill>
            <a:schemeClr val="bg1">
              <a:alpha val="43000"/>
            </a:schemeClr>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463675" rtl="0" eaLnBrk="1" fontAlgn="base" latinLnBrk="0" hangingPunct="1">
              <a:lnSpc>
                <a:spcPct val="100000"/>
              </a:lnSpc>
              <a:spcBef>
                <a:spcPct val="0"/>
              </a:spcBef>
              <a:spcAft>
                <a:spcPct val="0"/>
              </a:spcAft>
              <a:buClrTx/>
              <a:buSzTx/>
              <a:buFontTx/>
              <a:buNone/>
            </a:pPr>
            <a:endParaRPr kumimoji="0" lang="es-ES" sz="2900" b="0" i="0" u="none" strike="noStrike" cap="none" normalizeH="0" baseline="0">
              <a:ln>
                <a:noFill/>
              </a:ln>
              <a:solidFill>
                <a:schemeClr val="tx1"/>
              </a:solidFill>
              <a:effectLst/>
              <a:latin typeface="Arial" panose="020B0604020202020204" pitchFamily="34" charset="0"/>
            </a:endParaRPr>
          </a:p>
        </p:txBody>
      </p:sp>
      <p:sp>
        <p:nvSpPr>
          <p:cNvPr id="33" name="Rectangle 32"/>
          <p:cNvSpPr/>
          <p:nvPr/>
        </p:nvSpPr>
        <p:spPr bwMode="auto">
          <a:xfrm>
            <a:off x="495589" y="7026275"/>
            <a:ext cx="14553620" cy="2685872"/>
          </a:xfrm>
          <a:prstGeom prst="rect">
            <a:avLst/>
          </a:prstGeom>
          <a:solidFill>
            <a:srgbClr val="00B050">
              <a:alpha val="19000"/>
            </a:srgbClr>
          </a:solidFill>
          <a:ln w="3175" cap="flat" cmpd="sng" algn="ctr">
            <a:solidFill>
              <a:srgbClr val="80808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463675" rtl="0" eaLnBrk="1" fontAlgn="base" latinLnBrk="0" hangingPunct="1">
              <a:lnSpc>
                <a:spcPct val="100000"/>
              </a:lnSpc>
              <a:spcBef>
                <a:spcPct val="0"/>
              </a:spcBef>
              <a:spcAft>
                <a:spcPct val="0"/>
              </a:spcAft>
              <a:buClrTx/>
              <a:buSzTx/>
              <a:buFontTx/>
              <a:buNone/>
            </a:pPr>
            <a:endParaRPr kumimoji="0" lang="es-ES" sz="2900" b="0" i="0" u="none" strike="noStrike" cap="none" normalizeH="0" baseline="0" dirty="0">
              <a:ln>
                <a:noFill/>
              </a:ln>
              <a:solidFill>
                <a:schemeClr val="tx1"/>
              </a:solidFill>
              <a:effectLst/>
              <a:latin typeface="Arial" panose="020B0604020202020204" pitchFamily="34" charset="0"/>
            </a:endParaRPr>
          </a:p>
        </p:txBody>
      </p:sp>
      <p:sp>
        <p:nvSpPr>
          <p:cNvPr id="34" name="TextBox 33"/>
          <p:cNvSpPr txBox="1"/>
          <p:nvPr/>
        </p:nvSpPr>
        <p:spPr>
          <a:xfrm>
            <a:off x="2260854" y="2978210"/>
            <a:ext cx="1822230" cy="1446550"/>
          </a:xfrm>
          <a:prstGeom prst="rect">
            <a:avLst/>
          </a:prstGeom>
          <a:noFill/>
        </p:spPr>
        <p:txBody>
          <a:bodyPr wrap="none" rtlCol="0">
            <a:spAutoFit/>
          </a:bodyPr>
          <a:lstStyle/>
          <a:p>
            <a:r>
              <a:rPr lang="es-ES" sz="8800" dirty="0">
                <a:solidFill>
                  <a:schemeClr val="bg1"/>
                </a:solidFill>
                <a:effectLst>
                  <a:outerShdw blurRad="50800" dist="38100" dir="2700000" algn="tl" rotWithShape="0">
                    <a:prstClr val="black">
                      <a:alpha val="40000"/>
                    </a:prstClr>
                  </a:outerShdw>
                </a:effectLst>
                <a:latin typeface="DIN Condensed" pitchFamily="2" charset="0"/>
              </a:rPr>
              <a:t>NOW</a:t>
            </a:r>
            <a:endParaRPr lang="es-ES" sz="8800" dirty="0">
              <a:solidFill>
                <a:schemeClr val="bg1"/>
              </a:solidFill>
              <a:effectLst>
                <a:outerShdw blurRad="50800" dist="38100" dir="2700000" algn="tl" rotWithShape="0">
                  <a:prstClr val="black">
                    <a:alpha val="40000"/>
                  </a:prstClr>
                </a:outerShdw>
              </a:effectLst>
              <a:latin typeface="DIN Condensed" pitchFamily="2" charset="0"/>
            </a:endParaRPr>
          </a:p>
        </p:txBody>
      </p:sp>
      <p:sp>
        <p:nvSpPr>
          <p:cNvPr id="35" name="TextBox 34"/>
          <p:cNvSpPr txBox="1"/>
          <p:nvPr/>
        </p:nvSpPr>
        <p:spPr>
          <a:xfrm>
            <a:off x="5950860" y="2386548"/>
            <a:ext cx="3460128" cy="3785652"/>
          </a:xfrm>
          <a:prstGeom prst="rect">
            <a:avLst/>
          </a:prstGeom>
          <a:noFill/>
        </p:spPr>
        <p:txBody>
          <a:bodyPr wrap="square" rtlCol="0">
            <a:spAutoFit/>
          </a:bodyPr>
          <a:lstStyle/>
          <a:p>
            <a:r>
              <a:rPr lang="es-ES" sz="6000" dirty="0">
                <a:solidFill>
                  <a:schemeClr val="bg1"/>
                </a:solidFill>
                <a:effectLst>
                  <a:outerShdw blurRad="50800" dist="38100" dir="2700000" algn="tl" rotWithShape="0">
                    <a:prstClr val="black">
                      <a:alpha val="40000"/>
                    </a:prstClr>
                  </a:outerShdw>
                </a:effectLst>
                <a:latin typeface="DIN Condensed" pitchFamily="2" charset="0"/>
              </a:rPr>
              <a:t>HOW DO WE THINK WE WILL GET THERE?</a:t>
            </a:r>
            <a:endParaRPr lang="es-ES" sz="6000" dirty="0">
              <a:solidFill>
                <a:schemeClr val="bg1"/>
              </a:solidFill>
              <a:effectLst>
                <a:outerShdw blurRad="50800" dist="38100" dir="2700000" algn="tl" rotWithShape="0">
                  <a:prstClr val="black">
                    <a:alpha val="40000"/>
                  </a:prstClr>
                </a:outerShdw>
              </a:effectLst>
              <a:latin typeface="DIN Condensed" pitchFamily="2" charset="0"/>
            </a:endParaRPr>
          </a:p>
        </p:txBody>
      </p:sp>
      <p:sp>
        <p:nvSpPr>
          <p:cNvPr id="36" name="TextBox 35"/>
          <p:cNvSpPr txBox="1"/>
          <p:nvPr/>
        </p:nvSpPr>
        <p:spPr>
          <a:xfrm>
            <a:off x="591137" y="7719764"/>
            <a:ext cx="14362522" cy="1446550"/>
          </a:xfrm>
          <a:prstGeom prst="rect">
            <a:avLst/>
          </a:prstGeom>
          <a:noFill/>
        </p:spPr>
        <p:txBody>
          <a:bodyPr wrap="none" rtlCol="0">
            <a:spAutoFit/>
          </a:bodyPr>
          <a:lstStyle/>
          <a:p>
            <a:r>
              <a:rPr lang="es-ES" sz="8800" dirty="0">
                <a:solidFill>
                  <a:schemeClr val="bg1"/>
                </a:solidFill>
                <a:effectLst>
                  <a:outerShdw blurRad="50800" dist="38100" dir="2700000" algn="tl" rotWithShape="0">
                    <a:prstClr val="black">
                      <a:alpha val="40000"/>
                    </a:prstClr>
                  </a:outerShdw>
                </a:effectLst>
                <a:latin typeface="DIN Condensed" pitchFamily="2" charset="0"/>
              </a:rPr>
              <a:t>HOW WILL WE FIND OUT IF WE’RE RIGHT?</a:t>
            </a:r>
            <a:endParaRPr lang="es-ES" sz="8800" dirty="0">
              <a:solidFill>
                <a:schemeClr val="bg1"/>
              </a:solidFill>
              <a:effectLst>
                <a:outerShdw blurRad="50800" dist="38100" dir="2700000" algn="tl" rotWithShape="0">
                  <a:prstClr val="black">
                    <a:alpha val="40000"/>
                  </a:prstClr>
                </a:outerShdw>
              </a:effectLst>
              <a:latin typeface="DIN Condensed" pitchFamily="2" charset="0"/>
            </a:endParaRPr>
          </a:p>
        </p:txBody>
      </p:sp>
      <p:sp>
        <p:nvSpPr>
          <p:cNvPr id="37" name="TextBox 36"/>
          <p:cNvSpPr txBox="1"/>
          <p:nvPr/>
        </p:nvSpPr>
        <p:spPr>
          <a:xfrm>
            <a:off x="11442659" y="3056939"/>
            <a:ext cx="2272225" cy="1446550"/>
          </a:xfrm>
          <a:prstGeom prst="rect">
            <a:avLst/>
          </a:prstGeom>
          <a:noFill/>
        </p:spPr>
        <p:txBody>
          <a:bodyPr wrap="none" rtlCol="0">
            <a:spAutoFit/>
          </a:bodyPr>
          <a:lstStyle/>
          <a:p>
            <a:r>
              <a:rPr lang="es-ES" sz="8800" dirty="0">
                <a:solidFill>
                  <a:schemeClr val="bg1"/>
                </a:solidFill>
                <a:effectLst>
                  <a:outerShdw blurRad="50800" dist="38100" dir="2700000" algn="tl" rotWithShape="0">
                    <a:prstClr val="black">
                      <a:alpha val="40000"/>
                    </a:prstClr>
                  </a:outerShdw>
                </a:effectLst>
                <a:latin typeface="DIN Condensed" pitchFamily="2" charset="0"/>
              </a:rPr>
              <a:t>LATER</a:t>
            </a:r>
            <a:endParaRPr lang="es-ES" sz="8800" dirty="0">
              <a:solidFill>
                <a:schemeClr val="bg1"/>
              </a:solidFill>
              <a:effectLst>
                <a:outerShdw blurRad="50800" dist="38100" dir="2700000" algn="tl" rotWithShape="0">
                  <a:prstClr val="black">
                    <a:alpha val="40000"/>
                  </a:prstClr>
                </a:outerShdw>
              </a:effectLst>
              <a:latin typeface="DIN Condensed" pitchFamily="2"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rgbClr val="808080"/>
          </a:solidFill>
          <a:prstDash val="solid"/>
          <a:round/>
          <a:headEnd type="none" w="med" len="med"/>
          <a:tailEnd type="none" w="med" len="med"/>
        </a:ln>
      </a:spPr>
      <a:bodyPr vert="horz" wrap="square" lIns="91440" tIns="45720" rIns="91440" bIns="45720" numCol="1" anchor="t" anchorCtr="0" compatLnSpc="1"/>
      <a:lstStyle>
        <a:defPPr marL="0" marR="0" indent="0" algn="l" defTabSz="1463675" rtl="0" eaLnBrk="1" fontAlgn="base" latinLnBrk="0" hangingPunct="1">
          <a:lnSpc>
            <a:spcPct val="100000"/>
          </a:lnSpc>
          <a:spcBef>
            <a:spcPct val="0"/>
          </a:spcBef>
          <a:spcAft>
            <a:spcPct val="0"/>
          </a:spcAft>
          <a:buClrTx/>
          <a:buSzTx/>
          <a:buFontTx/>
          <a:buNone/>
          <a:defRPr kumimoji="0" lang="en-US" sz="29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3175" cap="flat" cmpd="sng" algn="ctr">
          <a:solidFill>
            <a:srgbClr val="808080"/>
          </a:solidFill>
          <a:prstDash val="solid"/>
          <a:round/>
          <a:headEnd type="none" w="med" len="med"/>
          <a:tailEnd type="none" w="med" len="med"/>
        </a:ln>
      </a:spPr>
      <a:bodyPr vert="horz" wrap="square" lIns="91440" tIns="45720" rIns="91440" bIns="45720" numCol="1" anchor="t" anchorCtr="0" compatLnSpc="1"/>
      <a:lstStyle>
        <a:defPPr marL="0" marR="0" indent="0" algn="l" defTabSz="1463675" rtl="0" eaLnBrk="1" fontAlgn="base" latinLnBrk="0" hangingPunct="1">
          <a:lnSpc>
            <a:spcPct val="100000"/>
          </a:lnSpc>
          <a:spcBef>
            <a:spcPct val="0"/>
          </a:spcBef>
          <a:spcAft>
            <a:spcPct val="0"/>
          </a:spcAft>
          <a:buClrTx/>
          <a:buSzTx/>
          <a:buFontTx/>
          <a:buNone/>
          <a:defRPr kumimoji="0" lang="en-US" sz="29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10228</Words>
  <Application>WPS Presentation</Application>
  <PresentationFormat>Custom</PresentationFormat>
  <Paragraphs>132</Paragraphs>
  <Slides>2</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vt:i4>
      </vt:variant>
    </vt:vector>
  </HeadingPairs>
  <TitlesOfParts>
    <vt:vector size="16" baseType="lpstr">
      <vt:lpstr>Arial</vt:lpstr>
      <vt:lpstr>SimSun</vt:lpstr>
      <vt:lpstr>Wingdings</vt:lpstr>
      <vt:lpstr>MS PGothic</vt:lpstr>
      <vt:lpstr>TeX Gyre Adventor</vt:lpstr>
      <vt:lpstr>MS PGothic</vt:lpstr>
      <vt:lpstr>Noto Sans CJK SC</vt:lpstr>
      <vt:lpstr>Helvetica</vt:lpstr>
      <vt:lpstr>Helvetica Neue</vt:lpstr>
      <vt:lpstr>Helvetica Neue</vt:lpstr>
      <vt:lpstr>DIN Condensed</vt:lpstr>
      <vt:lpstr>Microsoft YaHei</vt:lpstr>
      <vt:lpstr>Arial Unicode MS</vt:lpstr>
      <vt:lpstr>Default Design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Jeff Patton</dc:creator>
  <cp:lastModifiedBy>giks</cp:lastModifiedBy>
  <cp:revision>425</cp:revision>
  <cp:lastPrinted>2026-04-04T00:09:49Z</cp:lastPrinted>
  <dcterms:created xsi:type="dcterms:W3CDTF">2026-04-04T00:09:49Z</dcterms:created>
  <dcterms:modified xsi:type="dcterms:W3CDTF">2026-04-04T00:09:49Z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